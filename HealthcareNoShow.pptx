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9" r:id="rId4"/>
    <p:sldId id="258" r:id="rId5"/>
    <p:sldId id="260" r:id="rId6"/>
    <p:sldId id="261" r:id="rId7"/>
    <p:sldId id="262" r:id="rId8"/>
    <p:sldId id="268" r:id="rId9"/>
    <p:sldId id="269" r:id="rId10"/>
    <p:sldId id="263" r:id="rId11"/>
    <p:sldId id="265" r:id="rId12"/>
    <p:sldId id="264"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894" autoAdjust="0"/>
  </p:normalViewPr>
  <p:slideViewPr>
    <p:cSldViewPr snapToGrid="0">
      <p:cViewPr varScale="1">
        <p:scale>
          <a:sx n="60" d="100"/>
          <a:sy n="60" d="100"/>
        </p:scale>
        <p:origin x="872" y="5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2CAE2-1879-4F92-B448-1C7EDB9B183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3B466C6-E42C-4CED-B2AB-A27E326957E8}">
      <dgm:prSet/>
      <dgm:spPr/>
      <dgm:t>
        <a:bodyPr/>
        <a:lstStyle/>
        <a:p>
          <a:r>
            <a:rPr lang="en-US"/>
            <a:t>Data Source: ‘Colorado Healthcare: Decoding No-Show Patterns’ (Kaggle) a synthetic dataset with noise added via Google Gemini.</a:t>
          </a:r>
        </a:p>
      </dgm:t>
    </dgm:pt>
    <dgm:pt modelId="{D7C18854-6C62-4711-BE15-390F77CADDA4}" type="parTrans" cxnId="{0FFB4023-500B-40E7-9932-6B7A8A3061CC}">
      <dgm:prSet/>
      <dgm:spPr/>
      <dgm:t>
        <a:bodyPr/>
        <a:lstStyle/>
        <a:p>
          <a:endParaRPr lang="en-US"/>
        </a:p>
      </dgm:t>
    </dgm:pt>
    <dgm:pt modelId="{267749CA-7F6C-4D94-B10B-C54C563CD9E1}" type="sibTrans" cxnId="{0FFB4023-500B-40E7-9932-6B7A8A3061CC}">
      <dgm:prSet/>
      <dgm:spPr/>
      <dgm:t>
        <a:bodyPr/>
        <a:lstStyle/>
        <a:p>
          <a:endParaRPr lang="en-US"/>
        </a:p>
      </dgm:t>
    </dgm:pt>
    <dgm:pt modelId="{9272885A-FCAB-40E5-B364-3A07B49BB864}">
      <dgm:prSet/>
      <dgm:spPr/>
      <dgm:t>
        <a:bodyPr/>
        <a:lstStyle/>
        <a:p>
          <a:r>
            <a:rPr lang="en-US"/>
            <a:t>Scope: 50,000 patient records from November 2023 to November 2024.</a:t>
          </a:r>
        </a:p>
      </dgm:t>
    </dgm:pt>
    <dgm:pt modelId="{EC608A3C-2CAE-4360-AB15-AB53C62DA037}" type="parTrans" cxnId="{2FA299FC-3A3B-45FF-8377-DD5B3503282F}">
      <dgm:prSet/>
      <dgm:spPr/>
      <dgm:t>
        <a:bodyPr/>
        <a:lstStyle/>
        <a:p>
          <a:endParaRPr lang="en-US"/>
        </a:p>
      </dgm:t>
    </dgm:pt>
    <dgm:pt modelId="{7E7086AA-28BE-43CC-B104-FB7FDC69FDFE}" type="sibTrans" cxnId="{2FA299FC-3A3B-45FF-8377-DD5B3503282F}">
      <dgm:prSet/>
      <dgm:spPr/>
      <dgm:t>
        <a:bodyPr/>
        <a:lstStyle/>
        <a:p>
          <a:endParaRPr lang="en-US"/>
        </a:p>
      </dgm:t>
    </dgm:pt>
    <dgm:pt modelId="{21C19CC3-572E-4538-9E89-5B87876A8444}" type="pres">
      <dgm:prSet presAssocID="{5FD2CAE2-1879-4F92-B448-1C7EDB9B1833}" presName="root" presStyleCnt="0">
        <dgm:presLayoutVars>
          <dgm:dir/>
          <dgm:resizeHandles val="exact"/>
        </dgm:presLayoutVars>
      </dgm:prSet>
      <dgm:spPr/>
    </dgm:pt>
    <dgm:pt modelId="{FA62F159-28F1-429C-9518-373FB743F69B}" type="pres">
      <dgm:prSet presAssocID="{23B466C6-E42C-4CED-B2AB-A27E326957E8}" presName="compNode" presStyleCnt="0"/>
      <dgm:spPr/>
    </dgm:pt>
    <dgm:pt modelId="{61706BC7-1059-455C-889F-3145BFEFA7F5}" type="pres">
      <dgm:prSet presAssocID="{23B466C6-E42C-4CED-B2AB-A27E326957E8}" presName="bgRect" presStyleLbl="bgShp" presStyleIdx="0" presStyleCnt="2"/>
      <dgm:spPr/>
    </dgm:pt>
    <dgm:pt modelId="{79546EF1-FB67-47CE-A7F1-83B60A51ED95}" type="pres">
      <dgm:prSet presAssocID="{23B466C6-E42C-4CED-B2AB-A27E326957E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626F6A2B-FC9B-45A4-9C4A-E756A55EB9B1}" type="pres">
      <dgm:prSet presAssocID="{23B466C6-E42C-4CED-B2AB-A27E326957E8}" presName="spaceRect" presStyleCnt="0"/>
      <dgm:spPr/>
    </dgm:pt>
    <dgm:pt modelId="{7CE64E43-5C7A-432E-B505-99A5D4A6E577}" type="pres">
      <dgm:prSet presAssocID="{23B466C6-E42C-4CED-B2AB-A27E326957E8}" presName="parTx" presStyleLbl="revTx" presStyleIdx="0" presStyleCnt="2">
        <dgm:presLayoutVars>
          <dgm:chMax val="0"/>
          <dgm:chPref val="0"/>
        </dgm:presLayoutVars>
      </dgm:prSet>
      <dgm:spPr/>
    </dgm:pt>
    <dgm:pt modelId="{6A3387AD-495D-42C8-9B05-83A5958AFFF5}" type="pres">
      <dgm:prSet presAssocID="{267749CA-7F6C-4D94-B10B-C54C563CD9E1}" presName="sibTrans" presStyleCnt="0"/>
      <dgm:spPr/>
    </dgm:pt>
    <dgm:pt modelId="{FB843E1E-C8DD-4544-A7A3-61CCDF346641}" type="pres">
      <dgm:prSet presAssocID="{9272885A-FCAB-40E5-B364-3A07B49BB864}" presName="compNode" presStyleCnt="0"/>
      <dgm:spPr/>
    </dgm:pt>
    <dgm:pt modelId="{13160212-D764-4057-A8E0-1FCBD094F716}" type="pres">
      <dgm:prSet presAssocID="{9272885A-FCAB-40E5-B364-3A07B49BB864}" presName="bgRect" presStyleLbl="bgShp" presStyleIdx="1" presStyleCnt="2"/>
      <dgm:spPr/>
    </dgm:pt>
    <dgm:pt modelId="{82AE0C4F-B9CD-495D-8C65-7F42133A265E}" type="pres">
      <dgm:prSet presAssocID="{9272885A-FCAB-40E5-B364-3A07B49BB86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ip Calendar"/>
        </a:ext>
      </dgm:extLst>
    </dgm:pt>
    <dgm:pt modelId="{C463E577-6AD3-4B49-81C9-DE14E93BAF12}" type="pres">
      <dgm:prSet presAssocID="{9272885A-FCAB-40E5-B364-3A07B49BB864}" presName="spaceRect" presStyleCnt="0"/>
      <dgm:spPr/>
    </dgm:pt>
    <dgm:pt modelId="{76130431-92CA-4E4D-8CA3-E99C2201D1FC}" type="pres">
      <dgm:prSet presAssocID="{9272885A-FCAB-40E5-B364-3A07B49BB864}" presName="parTx" presStyleLbl="revTx" presStyleIdx="1" presStyleCnt="2">
        <dgm:presLayoutVars>
          <dgm:chMax val="0"/>
          <dgm:chPref val="0"/>
        </dgm:presLayoutVars>
      </dgm:prSet>
      <dgm:spPr/>
    </dgm:pt>
  </dgm:ptLst>
  <dgm:cxnLst>
    <dgm:cxn modelId="{0FFB4023-500B-40E7-9932-6B7A8A3061CC}" srcId="{5FD2CAE2-1879-4F92-B448-1C7EDB9B1833}" destId="{23B466C6-E42C-4CED-B2AB-A27E326957E8}" srcOrd="0" destOrd="0" parTransId="{D7C18854-6C62-4711-BE15-390F77CADDA4}" sibTransId="{267749CA-7F6C-4D94-B10B-C54C563CD9E1}"/>
    <dgm:cxn modelId="{F2712485-58D5-411E-90DF-A222DA45660A}" type="presOf" srcId="{23B466C6-E42C-4CED-B2AB-A27E326957E8}" destId="{7CE64E43-5C7A-432E-B505-99A5D4A6E577}" srcOrd="0" destOrd="0" presId="urn:microsoft.com/office/officeart/2018/2/layout/IconVerticalSolidList"/>
    <dgm:cxn modelId="{80168D9D-7228-4D4E-84DE-F9DA8BAA9F82}" type="presOf" srcId="{9272885A-FCAB-40E5-B364-3A07B49BB864}" destId="{76130431-92CA-4E4D-8CA3-E99C2201D1FC}" srcOrd="0" destOrd="0" presId="urn:microsoft.com/office/officeart/2018/2/layout/IconVerticalSolidList"/>
    <dgm:cxn modelId="{140998C8-DB38-44F1-A0D2-7595AB31113D}" type="presOf" srcId="{5FD2CAE2-1879-4F92-B448-1C7EDB9B1833}" destId="{21C19CC3-572E-4538-9E89-5B87876A8444}" srcOrd="0" destOrd="0" presId="urn:microsoft.com/office/officeart/2018/2/layout/IconVerticalSolidList"/>
    <dgm:cxn modelId="{2FA299FC-3A3B-45FF-8377-DD5B3503282F}" srcId="{5FD2CAE2-1879-4F92-B448-1C7EDB9B1833}" destId="{9272885A-FCAB-40E5-B364-3A07B49BB864}" srcOrd="1" destOrd="0" parTransId="{EC608A3C-2CAE-4360-AB15-AB53C62DA037}" sibTransId="{7E7086AA-28BE-43CC-B104-FB7FDC69FDFE}"/>
    <dgm:cxn modelId="{81EF1D71-2E08-4F76-8736-6EAC91F41EC5}" type="presParOf" srcId="{21C19CC3-572E-4538-9E89-5B87876A8444}" destId="{FA62F159-28F1-429C-9518-373FB743F69B}" srcOrd="0" destOrd="0" presId="urn:microsoft.com/office/officeart/2018/2/layout/IconVerticalSolidList"/>
    <dgm:cxn modelId="{BAD2EB98-EAB7-4E2F-8C5B-EEE937262C5B}" type="presParOf" srcId="{FA62F159-28F1-429C-9518-373FB743F69B}" destId="{61706BC7-1059-455C-889F-3145BFEFA7F5}" srcOrd="0" destOrd="0" presId="urn:microsoft.com/office/officeart/2018/2/layout/IconVerticalSolidList"/>
    <dgm:cxn modelId="{A260A5AD-BCDD-4913-AD36-25835B60642A}" type="presParOf" srcId="{FA62F159-28F1-429C-9518-373FB743F69B}" destId="{79546EF1-FB67-47CE-A7F1-83B60A51ED95}" srcOrd="1" destOrd="0" presId="urn:microsoft.com/office/officeart/2018/2/layout/IconVerticalSolidList"/>
    <dgm:cxn modelId="{8297A36A-C8E3-479B-89F2-F5ECB18700EB}" type="presParOf" srcId="{FA62F159-28F1-429C-9518-373FB743F69B}" destId="{626F6A2B-FC9B-45A4-9C4A-E756A55EB9B1}" srcOrd="2" destOrd="0" presId="urn:microsoft.com/office/officeart/2018/2/layout/IconVerticalSolidList"/>
    <dgm:cxn modelId="{A6432477-60E7-4D46-A47E-5E396DD677E3}" type="presParOf" srcId="{FA62F159-28F1-429C-9518-373FB743F69B}" destId="{7CE64E43-5C7A-432E-B505-99A5D4A6E577}" srcOrd="3" destOrd="0" presId="urn:microsoft.com/office/officeart/2018/2/layout/IconVerticalSolidList"/>
    <dgm:cxn modelId="{753CE8DD-D442-4980-A33A-35A9766075B4}" type="presParOf" srcId="{21C19CC3-572E-4538-9E89-5B87876A8444}" destId="{6A3387AD-495D-42C8-9B05-83A5958AFFF5}" srcOrd="1" destOrd="0" presId="urn:microsoft.com/office/officeart/2018/2/layout/IconVerticalSolidList"/>
    <dgm:cxn modelId="{ED84E244-254B-480B-9EEF-E52D86169D1B}" type="presParOf" srcId="{21C19CC3-572E-4538-9E89-5B87876A8444}" destId="{FB843E1E-C8DD-4544-A7A3-61CCDF346641}" srcOrd="2" destOrd="0" presId="urn:microsoft.com/office/officeart/2018/2/layout/IconVerticalSolidList"/>
    <dgm:cxn modelId="{630B5E50-63BC-4AD8-9933-C1F10242629F}" type="presParOf" srcId="{FB843E1E-C8DD-4544-A7A3-61CCDF346641}" destId="{13160212-D764-4057-A8E0-1FCBD094F716}" srcOrd="0" destOrd="0" presId="urn:microsoft.com/office/officeart/2018/2/layout/IconVerticalSolidList"/>
    <dgm:cxn modelId="{E8453FD2-696A-493C-BA9A-43A0690B7D08}" type="presParOf" srcId="{FB843E1E-C8DD-4544-A7A3-61CCDF346641}" destId="{82AE0C4F-B9CD-495D-8C65-7F42133A265E}" srcOrd="1" destOrd="0" presId="urn:microsoft.com/office/officeart/2018/2/layout/IconVerticalSolidList"/>
    <dgm:cxn modelId="{7E3B8135-61B1-4C2C-BE15-F8CF3BE5EDD1}" type="presParOf" srcId="{FB843E1E-C8DD-4544-A7A3-61CCDF346641}" destId="{C463E577-6AD3-4B49-81C9-DE14E93BAF12}" srcOrd="2" destOrd="0" presId="urn:microsoft.com/office/officeart/2018/2/layout/IconVerticalSolidList"/>
    <dgm:cxn modelId="{16A99777-F0CD-4B08-B31E-A466FFEDE72E}" type="presParOf" srcId="{FB843E1E-C8DD-4544-A7A3-61CCDF346641}" destId="{76130431-92CA-4E4D-8CA3-E99C2201D1F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BB394C-5297-4CC3-A860-8400B251432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851E0CE-A4E1-42AA-9C60-4F6CB1F93270}">
      <dgm:prSet/>
      <dgm:spPr/>
      <dgm:t>
        <a:bodyPr/>
        <a:lstStyle/>
        <a:p>
          <a:r>
            <a:rPr lang="en-US"/>
            <a:t>Normalization: Removed underscores from column names; applied “Capitalize Each Word” and “Trim” to text columns.</a:t>
          </a:r>
        </a:p>
      </dgm:t>
    </dgm:pt>
    <dgm:pt modelId="{1D4C94A7-5771-415E-A955-AE9C5B6B18A2}" type="parTrans" cxnId="{9FCFF1D6-8B4A-4E6C-9215-A775501C9D2D}">
      <dgm:prSet/>
      <dgm:spPr/>
      <dgm:t>
        <a:bodyPr/>
        <a:lstStyle/>
        <a:p>
          <a:endParaRPr lang="en-US"/>
        </a:p>
      </dgm:t>
    </dgm:pt>
    <dgm:pt modelId="{C2D688EF-8BFB-4FB1-853B-D31B77891A81}" type="sibTrans" cxnId="{9FCFF1D6-8B4A-4E6C-9215-A775501C9D2D}">
      <dgm:prSet/>
      <dgm:spPr/>
      <dgm:t>
        <a:bodyPr/>
        <a:lstStyle/>
        <a:p>
          <a:endParaRPr lang="en-US"/>
        </a:p>
      </dgm:t>
    </dgm:pt>
    <dgm:pt modelId="{7C73B3A3-D819-42FB-A170-F64143B9E48E}">
      <dgm:prSet/>
      <dgm:spPr/>
      <dgm:t>
        <a:bodyPr/>
        <a:lstStyle/>
        <a:p>
          <a:r>
            <a:rPr lang="en-US"/>
            <a:t>Quality Control: Replaced blanks with null.</a:t>
          </a:r>
        </a:p>
      </dgm:t>
    </dgm:pt>
    <dgm:pt modelId="{9FB87FA4-F598-4225-9236-0589E7BF1CFB}" type="parTrans" cxnId="{CAACAB56-F67A-40FC-B019-0848FF9A4E51}">
      <dgm:prSet/>
      <dgm:spPr/>
      <dgm:t>
        <a:bodyPr/>
        <a:lstStyle/>
        <a:p>
          <a:endParaRPr lang="en-US"/>
        </a:p>
      </dgm:t>
    </dgm:pt>
    <dgm:pt modelId="{95A3811F-D8C6-43E1-86CF-0730B905FB50}" type="sibTrans" cxnId="{CAACAB56-F67A-40FC-B019-0848FF9A4E51}">
      <dgm:prSet/>
      <dgm:spPr/>
      <dgm:t>
        <a:bodyPr/>
        <a:lstStyle/>
        <a:p>
          <a:endParaRPr lang="en-US"/>
        </a:p>
      </dgm:t>
    </dgm:pt>
    <dgm:pt modelId="{D99533AA-F375-45F3-AD36-302002F4CE79}">
      <dgm:prSet/>
      <dgm:spPr/>
      <dgm:t>
        <a:bodyPr/>
        <a:lstStyle/>
        <a:p>
          <a:r>
            <a:rPr lang="en-US"/>
            <a:t>Integrity: Removed duplicates from PatientID and filtered out empty PatientID and AppointmentOutcome records</a:t>
          </a:r>
        </a:p>
      </dgm:t>
    </dgm:pt>
    <dgm:pt modelId="{F26DB311-B373-4C26-9D86-8703458B76A8}" type="parTrans" cxnId="{3BA22BDB-78DB-4338-847B-D6BFD34D0EF3}">
      <dgm:prSet/>
      <dgm:spPr/>
      <dgm:t>
        <a:bodyPr/>
        <a:lstStyle/>
        <a:p>
          <a:endParaRPr lang="en-US"/>
        </a:p>
      </dgm:t>
    </dgm:pt>
    <dgm:pt modelId="{13D1A187-3610-4D02-A509-1FDA13B87DF5}" type="sibTrans" cxnId="{3BA22BDB-78DB-4338-847B-D6BFD34D0EF3}">
      <dgm:prSet/>
      <dgm:spPr/>
      <dgm:t>
        <a:bodyPr/>
        <a:lstStyle/>
        <a:p>
          <a:endParaRPr lang="en-US"/>
        </a:p>
      </dgm:t>
    </dgm:pt>
    <dgm:pt modelId="{61C4C068-42DE-4D00-980F-77887FAF6F09}">
      <dgm:prSet/>
      <dgm:spPr/>
      <dgm:t>
        <a:bodyPr/>
        <a:lstStyle/>
        <a:p>
          <a:r>
            <a:rPr lang="en-US"/>
            <a:t>Decision Logic: Kept nulls in secondary columns to preserve the integrity of the primary outcome data.</a:t>
          </a:r>
        </a:p>
      </dgm:t>
    </dgm:pt>
    <dgm:pt modelId="{0262E659-EB5C-4559-9C9B-7D71EA05ADA2}" type="parTrans" cxnId="{4EDC34D4-58EA-4D75-AB35-60BE95F14451}">
      <dgm:prSet/>
      <dgm:spPr/>
      <dgm:t>
        <a:bodyPr/>
        <a:lstStyle/>
        <a:p>
          <a:endParaRPr lang="en-US"/>
        </a:p>
      </dgm:t>
    </dgm:pt>
    <dgm:pt modelId="{7F08D571-68BE-4492-A610-5A30CF711CB3}" type="sibTrans" cxnId="{4EDC34D4-58EA-4D75-AB35-60BE95F14451}">
      <dgm:prSet/>
      <dgm:spPr/>
      <dgm:t>
        <a:bodyPr/>
        <a:lstStyle/>
        <a:p>
          <a:endParaRPr lang="en-US"/>
        </a:p>
      </dgm:t>
    </dgm:pt>
    <dgm:pt modelId="{849625C7-7673-4761-9CFD-1904F61327D9}" type="pres">
      <dgm:prSet presAssocID="{B4BB394C-5297-4CC3-A860-8400B2514322}" presName="linear" presStyleCnt="0">
        <dgm:presLayoutVars>
          <dgm:animLvl val="lvl"/>
          <dgm:resizeHandles val="exact"/>
        </dgm:presLayoutVars>
      </dgm:prSet>
      <dgm:spPr/>
    </dgm:pt>
    <dgm:pt modelId="{50360D8D-4C73-4680-91E7-3B611154AD03}" type="pres">
      <dgm:prSet presAssocID="{5851E0CE-A4E1-42AA-9C60-4F6CB1F93270}" presName="parentText" presStyleLbl="node1" presStyleIdx="0" presStyleCnt="4">
        <dgm:presLayoutVars>
          <dgm:chMax val="0"/>
          <dgm:bulletEnabled val="1"/>
        </dgm:presLayoutVars>
      </dgm:prSet>
      <dgm:spPr/>
    </dgm:pt>
    <dgm:pt modelId="{55C1B031-184E-4136-860F-F57DB674CD26}" type="pres">
      <dgm:prSet presAssocID="{C2D688EF-8BFB-4FB1-853B-D31B77891A81}" presName="spacer" presStyleCnt="0"/>
      <dgm:spPr/>
    </dgm:pt>
    <dgm:pt modelId="{0854BA79-A307-4E7C-9959-7CA35D138B2B}" type="pres">
      <dgm:prSet presAssocID="{7C73B3A3-D819-42FB-A170-F64143B9E48E}" presName="parentText" presStyleLbl="node1" presStyleIdx="1" presStyleCnt="4">
        <dgm:presLayoutVars>
          <dgm:chMax val="0"/>
          <dgm:bulletEnabled val="1"/>
        </dgm:presLayoutVars>
      </dgm:prSet>
      <dgm:spPr/>
    </dgm:pt>
    <dgm:pt modelId="{0E1F736B-AF65-4236-AB7A-D99D79B628EC}" type="pres">
      <dgm:prSet presAssocID="{95A3811F-D8C6-43E1-86CF-0730B905FB50}" presName="spacer" presStyleCnt="0"/>
      <dgm:spPr/>
    </dgm:pt>
    <dgm:pt modelId="{17A07F25-74FE-4014-BB65-C2FBDE013322}" type="pres">
      <dgm:prSet presAssocID="{D99533AA-F375-45F3-AD36-302002F4CE79}" presName="parentText" presStyleLbl="node1" presStyleIdx="2" presStyleCnt="4">
        <dgm:presLayoutVars>
          <dgm:chMax val="0"/>
          <dgm:bulletEnabled val="1"/>
        </dgm:presLayoutVars>
      </dgm:prSet>
      <dgm:spPr/>
    </dgm:pt>
    <dgm:pt modelId="{8699F736-0D67-4E12-9EC4-2486F4CD5C9F}" type="pres">
      <dgm:prSet presAssocID="{13D1A187-3610-4D02-A509-1FDA13B87DF5}" presName="spacer" presStyleCnt="0"/>
      <dgm:spPr/>
    </dgm:pt>
    <dgm:pt modelId="{26A14EE1-22EA-43DC-929B-C3133828163B}" type="pres">
      <dgm:prSet presAssocID="{61C4C068-42DE-4D00-980F-77887FAF6F09}" presName="parentText" presStyleLbl="node1" presStyleIdx="3" presStyleCnt="4">
        <dgm:presLayoutVars>
          <dgm:chMax val="0"/>
          <dgm:bulletEnabled val="1"/>
        </dgm:presLayoutVars>
      </dgm:prSet>
      <dgm:spPr/>
    </dgm:pt>
  </dgm:ptLst>
  <dgm:cxnLst>
    <dgm:cxn modelId="{2D402319-BC49-4160-91E8-826D2E0EA435}" type="presOf" srcId="{D99533AA-F375-45F3-AD36-302002F4CE79}" destId="{17A07F25-74FE-4014-BB65-C2FBDE013322}" srcOrd="0" destOrd="0" presId="urn:microsoft.com/office/officeart/2005/8/layout/vList2"/>
    <dgm:cxn modelId="{3251CE21-F102-4E37-B9D2-E2B596A46FE0}" type="presOf" srcId="{B4BB394C-5297-4CC3-A860-8400B2514322}" destId="{849625C7-7673-4761-9CFD-1904F61327D9}" srcOrd="0" destOrd="0" presId="urn:microsoft.com/office/officeart/2005/8/layout/vList2"/>
    <dgm:cxn modelId="{CAACAB56-F67A-40FC-B019-0848FF9A4E51}" srcId="{B4BB394C-5297-4CC3-A860-8400B2514322}" destId="{7C73B3A3-D819-42FB-A170-F64143B9E48E}" srcOrd="1" destOrd="0" parTransId="{9FB87FA4-F598-4225-9236-0589E7BF1CFB}" sibTransId="{95A3811F-D8C6-43E1-86CF-0730B905FB50}"/>
    <dgm:cxn modelId="{8317227F-BAF4-4045-B975-843E74E2842B}" type="presOf" srcId="{61C4C068-42DE-4D00-980F-77887FAF6F09}" destId="{26A14EE1-22EA-43DC-929B-C3133828163B}" srcOrd="0" destOrd="0" presId="urn:microsoft.com/office/officeart/2005/8/layout/vList2"/>
    <dgm:cxn modelId="{6E05C494-719C-4E76-AD92-08164B838378}" type="presOf" srcId="{5851E0CE-A4E1-42AA-9C60-4F6CB1F93270}" destId="{50360D8D-4C73-4680-91E7-3B611154AD03}" srcOrd="0" destOrd="0" presId="urn:microsoft.com/office/officeart/2005/8/layout/vList2"/>
    <dgm:cxn modelId="{DAA7B2A7-D817-465F-B241-EB97DAA85E14}" type="presOf" srcId="{7C73B3A3-D819-42FB-A170-F64143B9E48E}" destId="{0854BA79-A307-4E7C-9959-7CA35D138B2B}" srcOrd="0" destOrd="0" presId="urn:microsoft.com/office/officeart/2005/8/layout/vList2"/>
    <dgm:cxn modelId="{4EDC34D4-58EA-4D75-AB35-60BE95F14451}" srcId="{B4BB394C-5297-4CC3-A860-8400B2514322}" destId="{61C4C068-42DE-4D00-980F-77887FAF6F09}" srcOrd="3" destOrd="0" parTransId="{0262E659-EB5C-4559-9C9B-7D71EA05ADA2}" sibTransId="{7F08D571-68BE-4492-A610-5A30CF711CB3}"/>
    <dgm:cxn modelId="{9FCFF1D6-8B4A-4E6C-9215-A775501C9D2D}" srcId="{B4BB394C-5297-4CC3-A860-8400B2514322}" destId="{5851E0CE-A4E1-42AA-9C60-4F6CB1F93270}" srcOrd="0" destOrd="0" parTransId="{1D4C94A7-5771-415E-A955-AE9C5B6B18A2}" sibTransId="{C2D688EF-8BFB-4FB1-853B-D31B77891A81}"/>
    <dgm:cxn modelId="{3BA22BDB-78DB-4338-847B-D6BFD34D0EF3}" srcId="{B4BB394C-5297-4CC3-A860-8400B2514322}" destId="{D99533AA-F375-45F3-AD36-302002F4CE79}" srcOrd="2" destOrd="0" parTransId="{F26DB311-B373-4C26-9D86-8703458B76A8}" sibTransId="{13D1A187-3610-4D02-A509-1FDA13B87DF5}"/>
    <dgm:cxn modelId="{FB46C1BA-44EA-4065-84E1-171CEEFCB1F6}" type="presParOf" srcId="{849625C7-7673-4761-9CFD-1904F61327D9}" destId="{50360D8D-4C73-4680-91E7-3B611154AD03}" srcOrd="0" destOrd="0" presId="urn:microsoft.com/office/officeart/2005/8/layout/vList2"/>
    <dgm:cxn modelId="{C2040235-5906-4C06-A711-AB1A34406FE8}" type="presParOf" srcId="{849625C7-7673-4761-9CFD-1904F61327D9}" destId="{55C1B031-184E-4136-860F-F57DB674CD26}" srcOrd="1" destOrd="0" presId="urn:microsoft.com/office/officeart/2005/8/layout/vList2"/>
    <dgm:cxn modelId="{B1E48BBA-1412-4F18-AEFB-7982BCC19FD0}" type="presParOf" srcId="{849625C7-7673-4761-9CFD-1904F61327D9}" destId="{0854BA79-A307-4E7C-9959-7CA35D138B2B}" srcOrd="2" destOrd="0" presId="urn:microsoft.com/office/officeart/2005/8/layout/vList2"/>
    <dgm:cxn modelId="{42273030-B941-4824-8988-52F97E8F6742}" type="presParOf" srcId="{849625C7-7673-4761-9CFD-1904F61327D9}" destId="{0E1F736B-AF65-4236-AB7A-D99D79B628EC}" srcOrd="3" destOrd="0" presId="urn:microsoft.com/office/officeart/2005/8/layout/vList2"/>
    <dgm:cxn modelId="{791C0771-6BEF-411B-8A20-843B30DABA38}" type="presParOf" srcId="{849625C7-7673-4761-9CFD-1904F61327D9}" destId="{17A07F25-74FE-4014-BB65-C2FBDE013322}" srcOrd="4" destOrd="0" presId="urn:microsoft.com/office/officeart/2005/8/layout/vList2"/>
    <dgm:cxn modelId="{61790AB6-2945-49FC-9FCA-E5C6B9924C81}" type="presParOf" srcId="{849625C7-7673-4761-9CFD-1904F61327D9}" destId="{8699F736-0D67-4E12-9EC4-2486F4CD5C9F}" srcOrd="5" destOrd="0" presId="urn:microsoft.com/office/officeart/2005/8/layout/vList2"/>
    <dgm:cxn modelId="{B98855A7-A644-4EA6-ADBA-45FD2EECE6E9}" type="presParOf" srcId="{849625C7-7673-4761-9CFD-1904F61327D9}" destId="{26A14EE1-22EA-43DC-929B-C3133828163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FA012E-71CA-4CB5-9057-8946449613E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9E20FC8-B2B3-4808-93DF-9CECA2889F55}">
      <dgm:prSet/>
      <dgm:spPr/>
      <dgm:t>
        <a:bodyPr/>
        <a:lstStyle/>
        <a:p>
          <a:r>
            <a:rPr lang="en-US"/>
            <a:t>The “Young Adult” Gap:  Patients aged 19-35 have the highest no-show rate at 60%, especially when lead time exceed 14 days.</a:t>
          </a:r>
        </a:p>
      </dgm:t>
    </dgm:pt>
    <dgm:pt modelId="{393ABE40-0D3E-4A6A-B887-6AEE0A30C05C}" type="parTrans" cxnId="{4071475D-6A44-4AEF-B361-3605320867FF}">
      <dgm:prSet/>
      <dgm:spPr/>
      <dgm:t>
        <a:bodyPr/>
        <a:lstStyle/>
        <a:p>
          <a:endParaRPr lang="en-US"/>
        </a:p>
      </dgm:t>
    </dgm:pt>
    <dgm:pt modelId="{1DAEFACA-DA60-4F48-9632-7EC85FC84673}" type="sibTrans" cxnId="{4071475D-6A44-4AEF-B361-3605320867FF}">
      <dgm:prSet/>
      <dgm:spPr/>
      <dgm:t>
        <a:bodyPr/>
        <a:lstStyle/>
        <a:p>
          <a:endParaRPr lang="en-US"/>
        </a:p>
      </dgm:t>
    </dgm:pt>
    <dgm:pt modelId="{E92F7FD8-6FF2-41B9-90EF-D2E9E2CA3DE0}">
      <dgm:prSet/>
      <dgm:spPr/>
      <dgm:t>
        <a:bodyPr/>
        <a:lstStyle/>
        <a:p>
          <a:r>
            <a:rPr lang="en-US"/>
            <a:t>The transportation Barrier:  When transportation is unavailable, no-shows jump to 59%.  This is most acute for Uninsured(68%) and Medicaid (63%).</a:t>
          </a:r>
        </a:p>
      </dgm:t>
    </dgm:pt>
    <dgm:pt modelId="{9DFC70B3-94EB-43BC-9934-24A7B53A153C}" type="parTrans" cxnId="{BF864C82-4FA8-4D45-8891-64E33A95A5D9}">
      <dgm:prSet/>
      <dgm:spPr/>
      <dgm:t>
        <a:bodyPr/>
        <a:lstStyle/>
        <a:p>
          <a:endParaRPr lang="en-US"/>
        </a:p>
      </dgm:t>
    </dgm:pt>
    <dgm:pt modelId="{818CD3C2-D944-44B8-BED2-43843474A208}" type="sibTrans" cxnId="{BF864C82-4FA8-4D45-8891-64E33A95A5D9}">
      <dgm:prSet/>
      <dgm:spPr/>
      <dgm:t>
        <a:bodyPr/>
        <a:lstStyle/>
        <a:p>
          <a:endParaRPr lang="en-US"/>
        </a:p>
      </dgm:t>
    </dgm:pt>
    <dgm:pt modelId="{A0AAC536-E696-4DC6-B811-0F555BD4EF74}">
      <dgm:prSet/>
      <dgm:spPr/>
      <dgm:t>
        <a:bodyPr/>
        <a:lstStyle/>
        <a:p>
          <a:r>
            <a:rPr lang="en-US"/>
            <a:t>Lead Time Fatigue: No-shows climb steadily from 0-35 days, staying above clinic average after 49 days.</a:t>
          </a:r>
        </a:p>
      </dgm:t>
    </dgm:pt>
    <dgm:pt modelId="{70EA39F0-9422-4978-B829-474556AD7E31}" type="parTrans" cxnId="{25C7EFC0-D3C0-4F30-8330-DE39817F8995}">
      <dgm:prSet/>
      <dgm:spPr/>
      <dgm:t>
        <a:bodyPr/>
        <a:lstStyle/>
        <a:p>
          <a:endParaRPr lang="en-US"/>
        </a:p>
      </dgm:t>
    </dgm:pt>
    <dgm:pt modelId="{5C835E1D-C9ED-4DB3-A080-80CF1F1B45B6}" type="sibTrans" cxnId="{25C7EFC0-D3C0-4F30-8330-DE39817F8995}">
      <dgm:prSet/>
      <dgm:spPr/>
      <dgm:t>
        <a:bodyPr/>
        <a:lstStyle/>
        <a:p>
          <a:endParaRPr lang="en-US"/>
        </a:p>
      </dgm:t>
    </dgm:pt>
    <dgm:pt modelId="{ADB949EA-F31F-4D98-80BD-AE827290F9C2}">
      <dgm:prSet/>
      <dgm:spPr/>
      <dgm:t>
        <a:bodyPr/>
        <a:lstStyle/>
        <a:p>
          <a:r>
            <a:rPr lang="en-US"/>
            <a:t>The Trend:  The problem is getting worse, trending upwards from 49.27% to 50.26% over the year.</a:t>
          </a:r>
        </a:p>
      </dgm:t>
    </dgm:pt>
    <dgm:pt modelId="{13B800B6-EFEF-4534-9622-ADD14697C7DA}" type="parTrans" cxnId="{D2DEEACB-8AB5-42C0-A94F-B5889A068CF0}">
      <dgm:prSet/>
      <dgm:spPr/>
      <dgm:t>
        <a:bodyPr/>
        <a:lstStyle/>
        <a:p>
          <a:endParaRPr lang="en-US"/>
        </a:p>
      </dgm:t>
    </dgm:pt>
    <dgm:pt modelId="{1DE589AA-9A76-4F84-96B8-1D8FF4F389C6}" type="sibTrans" cxnId="{D2DEEACB-8AB5-42C0-A94F-B5889A068CF0}">
      <dgm:prSet/>
      <dgm:spPr/>
      <dgm:t>
        <a:bodyPr/>
        <a:lstStyle/>
        <a:p>
          <a:endParaRPr lang="en-US"/>
        </a:p>
      </dgm:t>
    </dgm:pt>
    <dgm:pt modelId="{26199443-AD34-4D62-B910-34953C299861}" type="pres">
      <dgm:prSet presAssocID="{AAFA012E-71CA-4CB5-9057-8946449613ED}" presName="linear" presStyleCnt="0">
        <dgm:presLayoutVars>
          <dgm:animLvl val="lvl"/>
          <dgm:resizeHandles val="exact"/>
        </dgm:presLayoutVars>
      </dgm:prSet>
      <dgm:spPr/>
    </dgm:pt>
    <dgm:pt modelId="{B371AF76-87FE-498F-B14E-8F7480CEAF21}" type="pres">
      <dgm:prSet presAssocID="{C9E20FC8-B2B3-4808-93DF-9CECA2889F55}" presName="parentText" presStyleLbl="node1" presStyleIdx="0" presStyleCnt="4">
        <dgm:presLayoutVars>
          <dgm:chMax val="0"/>
          <dgm:bulletEnabled val="1"/>
        </dgm:presLayoutVars>
      </dgm:prSet>
      <dgm:spPr/>
    </dgm:pt>
    <dgm:pt modelId="{3F0AF712-9A15-4337-B9F2-7225AFBB1C94}" type="pres">
      <dgm:prSet presAssocID="{1DAEFACA-DA60-4F48-9632-7EC85FC84673}" presName="spacer" presStyleCnt="0"/>
      <dgm:spPr/>
    </dgm:pt>
    <dgm:pt modelId="{9C234441-E812-4B98-91C8-5A7A5D47EA27}" type="pres">
      <dgm:prSet presAssocID="{E92F7FD8-6FF2-41B9-90EF-D2E9E2CA3DE0}" presName="parentText" presStyleLbl="node1" presStyleIdx="1" presStyleCnt="4">
        <dgm:presLayoutVars>
          <dgm:chMax val="0"/>
          <dgm:bulletEnabled val="1"/>
        </dgm:presLayoutVars>
      </dgm:prSet>
      <dgm:spPr/>
    </dgm:pt>
    <dgm:pt modelId="{084BBAE5-5347-4986-A1E6-0D0C6C8F1B57}" type="pres">
      <dgm:prSet presAssocID="{818CD3C2-D944-44B8-BED2-43843474A208}" presName="spacer" presStyleCnt="0"/>
      <dgm:spPr/>
    </dgm:pt>
    <dgm:pt modelId="{DF7D0788-3827-43DC-BE09-26008576844B}" type="pres">
      <dgm:prSet presAssocID="{A0AAC536-E696-4DC6-B811-0F555BD4EF74}" presName="parentText" presStyleLbl="node1" presStyleIdx="2" presStyleCnt="4">
        <dgm:presLayoutVars>
          <dgm:chMax val="0"/>
          <dgm:bulletEnabled val="1"/>
        </dgm:presLayoutVars>
      </dgm:prSet>
      <dgm:spPr/>
    </dgm:pt>
    <dgm:pt modelId="{708B888E-704E-49F1-A1A3-AE8A394D8916}" type="pres">
      <dgm:prSet presAssocID="{5C835E1D-C9ED-4DB3-A080-80CF1F1B45B6}" presName="spacer" presStyleCnt="0"/>
      <dgm:spPr/>
    </dgm:pt>
    <dgm:pt modelId="{17F64681-1537-48A8-A7EF-3B55AF630A7E}" type="pres">
      <dgm:prSet presAssocID="{ADB949EA-F31F-4D98-80BD-AE827290F9C2}" presName="parentText" presStyleLbl="node1" presStyleIdx="3" presStyleCnt="4">
        <dgm:presLayoutVars>
          <dgm:chMax val="0"/>
          <dgm:bulletEnabled val="1"/>
        </dgm:presLayoutVars>
      </dgm:prSet>
      <dgm:spPr/>
    </dgm:pt>
  </dgm:ptLst>
  <dgm:cxnLst>
    <dgm:cxn modelId="{D6040D13-0EEA-47FF-9E2B-52FDB5B72768}" type="presOf" srcId="{C9E20FC8-B2B3-4808-93DF-9CECA2889F55}" destId="{B371AF76-87FE-498F-B14E-8F7480CEAF21}" srcOrd="0" destOrd="0" presId="urn:microsoft.com/office/officeart/2005/8/layout/vList2"/>
    <dgm:cxn modelId="{2BA6391A-8064-4609-9011-AA792A58AF34}" type="presOf" srcId="{E92F7FD8-6FF2-41B9-90EF-D2E9E2CA3DE0}" destId="{9C234441-E812-4B98-91C8-5A7A5D47EA27}" srcOrd="0" destOrd="0" presId="urn:microsoft.com/office/officeart/2005/8/layout/vList2"/>
    <dgm:cxn modelId="{4071475D-6A44-4AEF-B361-3605320867FF}" srcId="{AAFA012E-71CA-4CB5-9057-8946449613ED}" destId="{C9E20FC8-B2B3-4808-93DF-9CECA2889F55}" srcOrd="0" destOrd="0" parTransId="{393ABE40-0D3E-4A6A-B887-6AEE0A30C05C}" sibTransId="{1DAEFACA-DA60-4F48-9632-7EC85FC84673}"/>
    <dgm:cxn modelId="{40C98145-8BEB-4FF8-91A1-31FA9B8A25E6}" type="presOf" srcId="{ADB949EA-F31F-4D98-80BD-AE827290F9C2}" destId="{17F64681-1537-48A8-A7EF-3B55AF630A7E}" srcOrd="0" destOrd="0" presId="urn:microsoft.com/office/officeart/2005/8/layout/vList2"/>
    <dgm:cxn modelId="{BF864C82-4FA8-4D45-8891-64E33A95A5D9}" srcId="{AAFA012E-71CA-4CB5-9057-8946449613ED}" destId="{E92F7FD8-6FF2-41B9-90EF-D2E9E2CA3DE0}" srcOrd="1" destOrd="0" parTransId="{9DFC70B3-94EB-43BC-9934-24A7B53A153C}" sibTransId="{818CD3C2-D944-44B8-BED2-43843474A208}"/>
    <dgm:cxn modelId="{25C7EFC0-D3C0-4F30-8330-DE39817F8995}" srcId="{AAFA012E-71CA-4CB5-9057-8946449613ED}" destId="{A0AAC536-E696-4DC6-B811-0F555BD4EF74}" srcOrd="2" destOrd="0" parTransId="{70EA39F0-9422-4978-B829-474556AD7E31}" sibTransId="{5C835E1D-C9ED-4DB3-A080-80CF1F1B45B6}"/>
    <dgm:cxn modelId="{D2DEEACB-8AB5-42C0-A94F-B5889A068CF0}" srcId="{AAFA012E-71CA-4CB5-9057-8946449613ED}" destId="{ADB949EA-F31F-4D98-80BD-AE827290F9C2}" srcOrd="3" destOrd="0" parTransId="{13B800B6-EFEF-4534-9622-ADD14697C7DA}" sibTransId="{1DE589AA-9A76-4F84-96B8-1D8FF4F389C6}"/>
    <dgm:cxn modelId="{8225FED1-727F-48B6-B570-273F2927E18D}" type="presOf" srcId="{A0AAC536-E696-4DC6-B811-0F555BD4EF74}" destId="{DF7D0788-3827-43DC-BE09-26008576844B}" srcOrd="0" destOrd="0" presId="urn:microsoft.com/office/officeart/2005/8/layout/vList2"/>
    <dgm:cxn modelId="{3E3A68E7-7BF4-4B67-8892-B6B63707AEDA}" type="presOf" srcId="{AAFA012E-71CA-4CB5-9057-8946449613ED}" destId="{26199443-AD34-4D62-B910-34953C299861}" srcOrd="0" destOrd="0" presId="urn:microsoft.com/office/officeart/2005/8/layout/vList2"/>
    <dgm:cxn modelId="{29900532-4A35-49F5-8801-8CB432527F41}" type="presParOf" srcId="{26199443-AD34-4D62-B910-34953C299861}" destId="{B371AF76-87FE-498F-B14E-8F7480CEAF21}" srcOrd="0" destOrd="0" presId="urn:microsoft.com/office/officeart/2005/8/layout/vList2"/>
    <dgm:cxn modelId="{BDB2627C-BE1B-4039-9D85-54419705EBED}" type="presParOf" srcId="{26199443-AD34-4D62-B910-34953C299861}" destId="{3F0AF712-9A15-4337-B9F2-7225AFBB1C94}" srcOrd="1" destOrd="0" presId="urn:microsoft.com/office/officeart/2005/8/layout/vList2"/>
    <dgm:cxn modelId="{D2F30410-C458-434F-98C2-26C86B1A904B}" type="presParOf" srcId="{26199443-AD34-4D62-B910-34953C299861}" destId="{9C234441-E812-4B98-91C8-5A7A5D47EA27}" srcOrd="2" destOrd="0" presId="urn:microsoft.com/office/officeart/2005/8/layout/vList2"/>
    <dgm:cxn modelId="{BD2A7B00-3A2F-4919-A512-2693CC3D5C82}" type="presParOf" srcId="{26199443-AD34-4D62-B910-34953C299861}" destId="{084BBAE5-5347-4986-A1E6-0D0C6C8F1B57}" srcOrd="3" destOrd="0" presId="urn:microsoft.com/office/officeart/2005/8/layout/vList2"/>
    <dgm:cxn modelId="{E35B81F8-FDE3-4905-B7DE-8F1B3D5DDD04}" type="presParOf" srcId="{26199443-AD34-4D62-B910-34953C299861}" destId="{DF7D0788-3827-43DC-BE09-26008576844B}" srcOrd="4" destOrd="0" presId="urn:microsoft.com/office/officeart/2005/8/layout/vList2"/>
    <dgm:cxn modelId="{17676C35-F4DA-4672-9267-78D8F5D071ED}" type="presParOf" srcId="{26199443-AD34-4D62-B910-34953C299861}" destId="{708B888E-704E-49F1-A1A3-AE8A394D8916}" srcOrd="5" destOrd="0" presId="urn:microsoft.com/office/officeart/2005/8/layout/vList2"/>
    <dgm:cxn modelId="{37CFD329-BF6C-4DF6-96C5-D5B25D02BA6C}" type="presParOf" srcId="{26199443-AD34-4D62-B910-34953C299861}" destId="{17F64681-1537-48A8-A7EF-3B55AF630A7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9D4F97-E1C2-4AC9-8C1B-C85E943B145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15EA3A0-1A58-4476-B58D-539A26A30CB7}">
      <dgm:prSet/>
      <dgm:spPr/>
      <dgm:t>
        <a:bodyPr/>
        <a:lstStyle/>
        <a:p>
          <a:r>
            <a:rPr lang="en-US"/>
            <a:t>Targeted Reminders: Implement a “High-Risk” SMS reminder protocol for the 19-35 age group, particularly for appointments booked greater than 14 days in advance.</a:t>
          </a:r>
        </a:p>
      </dgm:t>
    </dgm:pt>
    <dgm:pt modelId="{7EA58635-2D96-49AE-A070-E97708A5EDD9}" type="parTrans" cxnId="{AF0DE497-DBE9-4B3E-BAA8-3F1714F9A1DF}">
      <dgm:prSet/>
      <dgm:spPr/>
      <dgm:t>
        <a:bodyPr/>
        <a:lstStyle/>
        <a:p>
          <a:endParaRPr lang="en-US"/>
        </a:p>
      </dgm:t>
    </dgm:pt>
    <dgm:pt modelId="{CBD202C9-8C7A-4A85-9860-671DE4E97ADB}" type="sibTrans" cxnId="{AF0DE497-DBE9-4B3E-BAA8-3F1714F9A1DF}">
      <dgm:prSet/>
      <dgm:spPr/>
      <dgm:t>
        <a:bodyPr/>
        <a:lstStyle/>
        <a:p>
          <a:endParaRPr lang="en-US"/>
        </a:p>
      </dgm:t>
    </dgm:pt>
    <dgm:pt modelId="{C6287BA0-03BB-4260-AC59-CBA61A25E93B}">
      <dgm:prSet/>
      <dgm:spPr/>
      <dgm:t>
        <a:bodyPr/>
        <a:lstStyle/>
        <a:p>
          <a:r>
            <a:rPr lang="en-US"/>
            <a:t>Transportation Partnerships: Explore a pilot program with ride-share services for Medicaid and Uninsured patients who flag “No Transportation”</a:t>
          </a:r>
        </a:p>
      </dgm:t>
    </dgm:pt>
    <dgm:pt modelId="{DFE3C5C2-702C-4612-BA74-9D894A9E4CAE}" type="parTrans" cxnId="{8778EB12-6E79-4103-9625-A999772BB25A}">
      <dgm:prSet/>
      <dgm:spPr/>
      <dgm:t>
        <a:bodyPr/>
        <a:lstStyle/>
        <a:p>
          <a:endParaRPr lang="en-US"/>
        </a:p>
      </dgm:t>
    </dgm:pt>
    <dgm:pt modelId="{313E817C-43E5-4207-A232-83C44C2C1911}" type="sibTrans" cxnId="{8778EB12-6E79-4103-9625-A999772BB25A}">
      <dgm:prSet/>
      <dgm:spPr/>
      <dgm:t>
        <a:bodyPr/>
        <a:lstStyle/>
        <a:p>
          <a:endParaRPr lang="en-US"/>
        </a:p>
      </dgm:t>
    </dgm:pt>
    <dgm:pt modelId="{C8F748BD-B517-4DD5-A91E-246FCD85CB22}">
      <dgm:prSet/>
      <dgm:spPr/>
      <dgm:t>
        <a:bodyPr/>
        <a:lstStyle/>
        <a:p>
          <a:r>
            <a:rPr lang="en-US"/>
            <a:t>Shorten the Window: Reduce the “Days Lead Time” by implementing a waitlist system to fill gaps, as appointments booked 98 days out are highly likely to fail.</a:t>
          </a:r>
        </a:p>
      </dgm:t>
    </dgm:pt>
    <dgm:pt modelId="{7F567AE1-860F-4454-B260-954B20F1F4B4}" type="parTrans" cxnId="{B2B13513-C45A-42AA-8106-929D799B1213}">
      <dgm:prSet/>
      <dgm:spPr/>
      <dgm:t>
        <a:bodyPr/>
        <a:lstStyle/>
        <a:p>
          <a:endParaRPr lang="en-US"/>
        </a:p>
      </dgm:t>
    </dgm:pt>
    <dgm:pt modelId="{2EE4F8C1-86DD-4231-8C33-1E4140222F04}" type="sibTrans" cxnId="{B2B13513-C45A-42AA-8106-929D799B1213}">
      <dgm:prSet/>
      <dgm:spPr/>
      <dgm:t>
        <a:bodyPr/>
        <a:lstStyle/>
        <a:p>
          <a:endParaRPr lang="en-US"/>
        </a:p>
      </dgm:t>
    </dgm:pt>
    <dgm:pt modelId="{516B85A9-2213-4561-B70B-9D7DEF1E69CA}">
      <dgm:prSet/>
      <dgm:spPr/>
      <dgm:t>
        <a:bodyPr/>
        <a:lstStyle/>
        <a:p>
          <a:r>
            <a:rPr lang="en-US"/>
            <a:t>Audit the “Dirt”: Investigate why the no-show rate is 50%+ -- is there a technical glitch in how the clinic sends out appointment notifications?</a:t>
          </a:r>
        </a:p>
      </dgm:t>
    </dgm:pt>
    <dgm:pt modelId="{C0EC9B6F-5702-419A-A052-E93CDBCDEE6D}" type="parTrans" cxnId="{EC8C7475-CB9B-42A1-9617-D0A8B5505B0F}">
      <dgm:prSet/>
      <dgm:spPr/>
      <dgm:t>
        <a:bodyPr/>
        <a:lstStyle/>
        <a:p>
          <a:endParaRPr lang="en-US"/>
        </a:p>
      </dgm:t>
    </dgm:pt>
    <dgm:pt modelId="{1F9EDC1F-88ED-4DE5-AE2B-9A73896789B4}" type="sibTrans" cxnId="{EC8C7475-CB9B-42A1-9617-D0A8B5505B0F}">
      <dgm:prSet/>
      <dgm:spPr/>
      <dgm:t>
        <a:bodyPr/>
        <a:lstStyle/>
        <a:p>
          <a:endParaRPr lang="en-US"/>
        </a:p>
      </dgm:t>
    </dgm:pt>
    <dgm:pt modelId="{ECDB28F5-E29F-4066-9692-5F64F3AD20C7}" type="pres">
      <dgm:prSet presAssocID="{119D4F97-E1C2-4AC9-8C1B-C85E943B1452}" presName="linear" presStyleCnt="0">
        <dgm:presLayoutVars>
          <dgm:animLvl val="lvl"/>
          <dgm:resizeHandles val="exact"/>
        </dgm:presLayoutVars>
      </dgm:prSet>
      <dgm:spPr/>
    </dgm:pt>
    <dgm:pt modelId="{E34F7459-5230-4BF0-AF87-0D0BF7ECFFD4}" type="pres">
      <dgm:prSet presAssocID="{815EA3A0-1A58-4476-B58D-539A26A30CB7}" presName="parentText" presStyleLbl="node1" presStyleIdx="0" presStyleCnt="4">
        <dgm:presLayoutVars>
          <dgm:chMax val="0"/>
          <dgm:bulletEnabled val="1"/>
        </dgm:presLayoutVars>
      </dgm:prSet>
      <dgm:spPr/>
    </dgm:pt>
    <dgm:pt modelId="{755A5FB4-F730-4141-9C63-DC03F67F566F}" type="pres">
      <dgm:prSet presAssocID="{CBD202C9-8C7A-4A85-9860-671DE4E97ADB}" presName="spacer" presStyleCnt="0"/>
      <dgm:spPr/>
    </dgm:pt>
    <dgm:pt modelId="{90E29347-CEF2-4386-8937-69BC077FDB3F}" type="pres">
      <dgm:prSet presAssocID="{C6287BA0-03BB-4260-AC59-CBA61A25E93B}" presName="parentText" presStyleLbl="node1" presStyleIdx="1" presStyleCnt="4">
        <dgm:presLayoutVars>
          <dgm:chMax val="0"/>
          <dgm:bulletEnabled val="1"/>
        </dgm:presLayoutVars>
      </dgm:prSet>
      <dgm:spPr/>
    </dgm:pt>
    <dgm:pt modelId="{0722D6DF-2324-4A24-91E7-3FA810129DBE}" type="pres">
      <dgm:prSet presAssocID="{313E817C-43E5-4207-A232-83C44C2C1911}" presName="spacer" presStyleCnt="0"/>
      <dgm:spPr/>
    </dgm:pt>
    <dgm:pt modelId="{21B53979-0AE4-4233-95C6-1BEDF6066D31}" type="pres">
      <dgm:prSet presAssocID="{C8F748BD-B517-4DD5-A91E-246FCD85CB22}" presName="parentText" presStyleLbl="node1" presStyleIdx="2" presStyleCnt="4">
        <dgm:presLayoutVars>
          <dgm:chMax val="0"/>
          <dgm:bulletEnabled val="1"/>
        </dgm:presLayoutVars>
      </dgm:prSet>
      <dgm:spPr/>
    </dgm:pt>
    <dgm:pt modelId="{C1154D48-D640-45EE-83D4-7CF1D295D327}" type="pres">
      <dgm:prSet presAssocID="{2EE4F8C1-86DD-4231-8C33-1E4140222F04}" presName="spacer" presStyleCnt="0"/>
      <dgm:spPr/>
    </dgm:pt>
    <dgm:pt modelId="{7DA95786-8A4B-4D2B-BD9C-08BFA0F31869}" type="pres">
      <dgm:prSet presAssocID="{516B85A9-2213-4561-B70B-9D7DEF1E69CA}" presName="parentText" presStyleLbl="node1" presStyleIdx="3" presStyleCnt="4">
        <dgm:presLayoutVars>
          <dgm:chMax val="0"/>
          <dgm:bulletEnabled val="1"/>
        </dgm:presLayoutVars>
      </dgm:prSet>
      <dgm:spPr/>
    </dgm:pt>
  </dgm:ptLst>
  <dgm:cxnLst>
    <dgm:cxn modelId="{8778EB12-6E79-4103-9625-A999772BB25A}" srcId="{119D4F97-E1C2-4AC9-8C1B-C85E943B1452}" destId="{C6287BA0-03BB-4260-AC59-CBA61A25E93B}" srcOrd="1" destOrd="0" parTransId="{DFE3C5C2-702C-4612-BA74-9D894A9E4CAE}" sibTransId="{313E817C-43E5-4207-A232-83C44C2C1911}"/>
    <dgm:cxn modelId="{B2B13513-C45A-42AA-8106-929D799B1213}" srcId="{119D4F97-E1C2-4AC9-8C1B-C85E943B1452}" destId="{C8F748BD-B517-4DD5-A91E-246FCD85CB22}" srcOrd="2" destOrd="0" parTransId="{7F567AE1-860F-4454-B260-954B20F1F4B4}" sibTransId="{2EE4F8C1-86DD-4231-8C33-1E4140222F04}"/>
    <dgm:cxn modelId="{5B2F7913-4F0A-4EC2-BDE3-538A61B62911}" type="presOf" srcId="{C8F748BD-B517-4DD5-A91E-246FCD85CB22}" destId="{21B53979-0AE4-4233-95C6-1BEDF6066D31}" srcOrd="0" destOrd="0" presId="urn:microsoft.com/office/officeart/2005/8/layout/vList2"/>
    <dgm:cxn modelId="{8B10D313-86B3-477A-8481-3E6816C36DD7}" type="presOf" srcId="{815EA3A0-1A58-4476-B58D-539A26A30CB7}" destId="{E34F7459-5230-4BF0-AF87-0D0BF7ECFFD4}" srcOrd="0" destOrd="0" presId="urn:microsoft.com/office/officeart/2005/8/layout/vList2"/>
    <dgm:cxn modelId="{A635E535-07A1-4C9D-8194-283985198777}" type="presOf" srcId="{C6287BA0-03BB-4260-AC59-CBA61A25E93B}" destId="{90E29347-CEF2-4386-8937-69BC077FDB3F}" srcOrd="0" destOrd="0" presId="urn:microsoft.com/office/officeart/2005/8/layout/vList2"/>
    <dgm:cxn modelId="{EC8C7475-CB9B-42A1-9617-D0A8B5505B0F}" srcId="{119D4F97-E1C2-4AC9-8C1B-C85E943B1452}" destId="{516B85A9-2213-4561-B70B-9D7DEF1E69CA}" srcOrd="3" destOrd="0" parTransId="{C0EC9B6F-5702-419A-A052-E93CDBCDEE6D}" sibTransId="{1F9EDC1F-88ED-4DE5-AE2B-9A73896789B4}"/>
    <dgm:cxn modelId="{8DA6C980-70E7-47D4-83B7-5A1E59D0D7DF}" type="presOf" srcId="{119D4F97-E1C2-4AC9-8C1B-C85E943B1452}" destId="{ECDB28F5-E29F-4066-9692-5F64F3AD20C7}" srcOrd="0" destOrd="0" presId="urn:microsoft.com/office/officeart/2005/8/layout/vList2"/>
    <dgm:cxn modelId="{AF0DE497-DBE9-4B3E-BAA8-3F1714F9A1DF}" srcId="{119D4F97-E1C2-4AC9-8C1B-C85E943B1452}" destId="{815EA3A0-1A58-4476-B58D-539A26A30CB7}" srcOrd="0" destOrd="0" parTransId="{7EA58635-2D96-49AE-A070-E97708A5EDD9}" sibTransId="{CBD202C9-8C7A-4A85-9860-671DE4E97ADB}"/>
    <dgm:cxn modelId="{45888CEB-4C38-4EE9-9D6C-265CE0A0D1F8}" type="presOf" srcId="{516B85A9-2213-4561-B70B-9D7DEF1E69CA}" destId="{7DA95786-8A4B-4D2B-BD9C-08BFA0F31869}" srcOrd="0" destOrd="0" presId="urn:microsoft.com/office/officeart/2005/8/layout/vList2"/>
    <dgm:cxn modelId="{A8C6C1E9-7634-49C7-AF5A-CB9CC0ABEA2A}" type="presParOf" srcId="{ECDB28F5-E29F-4066-9692-5F64F3AD20C7}" destId="{E34F7459-5230-4BF0-AF87-0D0BF7ECFFD4}" srcOrd="0" destOrd="0" presId="urn:microsoft.com/office/officeart/2005/8/layout/vList2"/>
    <dgm:cxn modelId="{D3994A05-BA8C-4B95-8883-574D6D6A1C5F}" type="presParOf" srcId="{ECDB28F5-E29F-4066-9692-5F64F3AD20C7}" destId="{755A5FB4-F730-4141-9C63-DC03F67F566F}" srcOrd="1" destOrd="0" presId="urn:microsoft.com/office/officeart/2005/8/layout/vList2"/>
    <dgm:cxn modelId="{6692F985-C638-4018-BD67-A641C750147D}" type="presParOf" srcId="{ECDB28F5-E29F-4066-9692-5F64F3AD20C7}" destId="{90E29347-CEF2-4386-8937-69BC077FDB3F}" srcOrd="2" destOrd="0" presId="urn:microsoft.com/office/officeart/2005/8/layout/vList2"/>
    <dgm:cxn modelId="{E34A9F93-9852-4431-985B-5305950C8AC5}" type="presParOf" srcId="{ECDB28F5-E29F-4066-9692-5F64F3AD20C7}" destId="{0722D6DF-2324-4A24-91E7-3FA810129DBE}" srcOrd="3" destOrd="0" presId="urn:microsoft.com/office/officeart/2005/8/layout/vList2"/>
    <dgm:cxn modelId="{7AED9948-B002-49BE-BF85-B2D297BCCFCF}" type="presParOf" srcId="{ECDB28F5-E29F-4066-9692-5F64F3AD20C7}" destId="{21B53979-0AE4-4233-95C6-1BEDF6066D31}" srcOrd="4" destOrd="0" presId="urn:microsoft.com/office/officeart/2005/8/layout/vList2"/>
    <dgm:cxn modelId="{2E91DDA3-E24C-4DAE-98BE-E3E1EB808E0B}" type="presParOf" srcId="{ECDB28F5-E29F-4066-9692-5F64F3AD20C7}" destId="{C1154D48-D640-45EE-83D4-7CF1D295D327}" srcOrd="5" destOrd="0" presId="urn:microsoft.com/office/officeart/2005/8/layout/vList2"/>
    <dgm:cxn modelId="{62EBB85D-0FD5-4EBB-A9B6-59915E80A417}" type="presParOf" srcId="{ECDB28F5-E29F-4066-9692-5F64F3AD20C7}" destId="{7DA95786-8A4B-4D2B-BD9C-08BFA0F3186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BF4E542-4236-4A01-9DF7-0063C25C91D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3668083-D012-4CC1-99F0-B1DC91D9E95F}">
      <dgm:prSet/>
      <dgm:spPr/>
      <dgm:t>
        <a:bodyPr/>
        <a:lstStyle/>
        <a:p>
          <a:r>
            <a:rPr lang="en-US"/>
            <a:t>Summary: I identified that age, long lead times, and lack of transportation are the “perfect storm” for no-shows.</a:t>
          </a:r>
        </a:p>
      </dgm:t>
    </dgm:pt>
    <dgm:pt modelId="{8C88B280-303F-45B3-8D67-E27EB92A9243}" type="parTrans" cxnId="{4B9C0D8E-6710-4AD5-A654-11E4585C463B}">
      <dgm:prSet/>
      <dgm:spPr/>
      <dgm:t>
        <a:bodyPr/>
        <a:lstStyle/>
        <a:p>
          <a:endParaRPr lang="en-US"/>
        </a:p>
      </dgm:t>
    </dgm:pt>
    <dgm:pt modelId="{DF65BC00-F48F-40D2-A1E5-5079A0E338C7}" type="sibTrans" cxnId="{4B9C0D8E-6710-4AD5-A654-11E4585C463B}">
      <dgm:prSet/>
      <dgm:spPr/>
      <dgm:t>
        <a:bodyPr/>
        <a:lstStyle/>
        <a:p>
          <a:endParaRPr lang="en-US"/>
        </a:p>
      </dgm:t>
    </dgm:pt>
    <dgm:pt modelId="{86B26FAF-9D65-4452-844C-DC891D17E10F}">
      <dgm:prSet/>
      <dgm:spPr/>
      <dgm:t>
        <a:bodyPr/>
        <a:lstStyle/>
        <a:p>
          <a:r>
            <a:rPr lang="en-US"/>
            <a:t>Final Word:  By focusing on the 19-35 demographic and transportation access, the clinic can reclaim significant lost revenue.</a:t>
          </a:r>
        </a:p>
      </dgm:t>
    </dgm:pt>
    <dgm:pt modelId="{8D8A43D8-0FF5-4F1B-A758-C9D56CE3485B}" type="parTrans" cxnId="{F44E38B9-D432-400D-9B59-B532BAF11DFF}">
      <dgm:prSet/>
      <dgm:spPr/>
      <dgm:t>
        <a:bodyPr/>
        <a:lstStyle/>
        <a:p>
          <a:endParaRPr lang="en-US"/>
        </a:p>
      </dgm:t>
    </dgm:pt>
    <dgm:pt modelId="{46708811-5735-41C0-944C-6902426BA309}" type="sibTrans" cxnId="{F44E38B9-D432-400D-9B59-B532BAF11DFF}">
      <dgm:prSet/>
      <dgm:spPr/>
      <dgm:t>
        <a:bodyPr/>
        <a:lstStyle/>
        <a:p>
          <a:endParaRPr lang="en-US"/>
        </a:p>
      </dgm:t>
    </dgm:pt>
    <dgm:pt modelId="{1F7E02C7-568C-4B87-93D6-9027168C6FC7}" type="pres">
      <dgm:prSet presAssocID="{ABF4E542-4236-4A01-9DF7-0063C25C91D1}" presName="linear" presStyleCnt="0">
        <dgm:presLayoutVars>
          <dgm:animLvl val="lvl"/>
          <dgm:resizeHandles val="exact"/>
        </dgm:presLayoutVars>
      </dgm:prSet>
      <dgm:spPr/>
    </dgm:pt>
    <dgm:pt modelId="{AF846E44-2070-4CED-A5E0-3A7F94C2AAC7}" type="pres">
      <dgm:prSet presAssocID="{A3668083-D012-4CC1-99F0-B1DC91D9E95F}" presName="parentText" presStyleLbl="node1" presStyleIdx="0" presStyleCnt="2">
        <dgm:presLayoutVars>
          <dgm:chMax val="0"/>
          <dgm:bulletEnabled val="1"/>
        </dgm:presLayoutVars>
      </dgm:prSet>
      <dgm:spPr/>
    </dgm:pt>
    <dgm:pt modelId="{782A62B0-EF8A-4FC3-99B8-965E9929BE78}" type="pres">
      <dgm:prSet presAssocID="{DF65BC00-F48F-40D2-A1E5-5079A0E338C7}" presName="spacer" presStyleCnt="0"/>
      <dgm:spPr/>
    </dgm:pt>
    <dgm:pt modelId="{89D4C174-312D-47D3-88E1-B87074A76A59}" type="pres">
      <dgm:prSet presAssocID="{86B26FAF-9D65-4452-844C-DC891D17E10F}" presName="parentText" presStyleLbl="node1" presStyleIdx="1" presStyleCnt="2">
        <dgm:presLayoutVars>
          <dgm:chMax val="0"/>
          <dgm:bulletEnabled val="1"/>
        </dgm:presLayoutVars>
      </dgm:prSet>
      <dgm:spPr/>
    </dgm:pt>
  </dgm:ptLst>
  <dgm:cxnLst>
    <dgm:cxn modelId="{16A42712-BF6F-43A7-B057-8440DEE73E87}" type="presOf" srcId="{86B26FAF-9D65-4452-844C-DC891D17E10F}" destId="{89D4C174-312D-47D3-88E1-B87074A76A59}" srcOrd="0" destOrd="0" presId="urn:microsoft.com/office/officeart/2005/8/layout/vList2"/>
    <dgm:cxn modelId="{8F468065-6264-44B4-94FE-0AAD789CE2A1}" type="presOf" srcId="{ABF4E542-4236-4A01-9DF7-0063C25C91D1}" destId="{1F7E02C7-568C-4B87-93D6-9027168C6FC7}" srcOrd="0" destOrd="0" presId="urn:microsoft.com/office/officeart/2005/8/layout/vList2"/>
    <dgm:cxn modelId="{755FA586-12F3-4EC6-9939-418C25F3D659}" type="presOf" srcId="{A3668083-D012-4CC1-99F0-B1DC91D9E95F}" destId="{AF846E44-2070-4CED-A5E0-3A7F94C2AAC7}" srcOrd="0" destOrd="0" presId="urn:microsoft.com/office/officeart/2005/8/layout/vList2"/>
    <dgm:cxn modelId="{4B9C0D8E-6710-4AD5-A654-11E4585C463B}" srcId="{ABF4E542-4236-4A01-9DF7-0063C25C91D1}" destId="{A3668083-D012-4CC1-99F0-B1DC91D9E95F}" srcOrd="0" destOrd="0" parTransId="{8C88B280-303F-45B3-8D67-E27EB92A9243}" sibTransId="{DF65BC00-F48F-40D2-A1E5-5079A0E338C7}"/>
    <dgm:cxn modelId="{F44E38B9-D432-400D-9B59-B532BAF11DFF}" srcId="{ABF4E542-4236-4A01-9DF7-0063C25C91D1}" destId="{86B26FAF-9D65-4452-844C-DC891D17E10F}" srcOrd="1" destOrd="0" parTransId="{8D8A43D8-0FF5-4F1B-A758-C9D56CE3485B}" sibTransId="{46708811-5735-41C0-944C-6902426BA309}"/>
    <dgm:cxn modelId="{331BB6F1-0C39-4095-8044-A1C063D5C2DC}" type="presParOf" srcId="{1F7E02C7-568C-4B87-93D6-9027168C6FC7}" destId="{AF846E44-2070-4CED-A5E0-3A7F94C2AAC7}" srcOrd="0" destOrd="0" presId="urn:microsoft.com/office/officeart/2005/8/layout/vList2"/>
    <dgm:cxn modelId="{BC63EC11-D880-47CA-BD69-64D3D40AA2EA}" type="presParOf" srcId="{1F7E02C7-568C-4B87-93D6-9027168C6FC7}" destId="{782A62B0-EF8A-4FC3-99B8-965E9929BE78}" srcOrd="1" destOrd="0" presId="urn:microsoft.com/office/officeart/2005/8/layout/vList2"/>
    <dgm:cxn modelId="{F2C52BFB-5BD7-45B0-A7FF-D9ACB22290C9}" type="presParOf" srcId="{1F7E02C7-568C-4B87-93D6-9027168C6FC7}" destId="{89D4C174-312D-47D3-88E1-B87074A76A5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06BC7-1059-455C-889F-3145BFEFA7F5}">
      <dsp:nvSpPr>
        <dsp:cNvPr id="0" name=""/>
        <dsp:cNvSpPr/>
      </dsp:nvSpPr>
      <dsp:spPr>
        <a:xfrm>
          <a:off x="0" y="895997"/>
          <a:ext cx="6364224" cy="165414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546EF1-FB67-47CE-A7F1-83B60A51ED95}">
      <dsp:nvSpPr>
        <dsp:cNvPr id="0" name=""/>
        <dsp:cNvSpPr/>
      </dsp:nvSpPr>
      <dsp:spPr>
        <a:xfrm>
          <a:off x="500380" y="1268181"/>
          <a:ext cx="909782" cy="9097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E64E43-5C7A-432E-B505-99A5D4A6E577}">
      <dsp:nvSpPr>
        <dsp:cNvPr id="0" name=""/>
        <dsp:cNvSpPr/>
      </dsp:nvSpPr>
      <dsp:spPr>
        <a:xfrm>
          <a:off x="1910542" y="895997"/>
          <a:ext cx="4453681" cy="165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064" tIns="175064" rIns="175064" bIns="175064" numCol="1" spcCol="1270" anchor="ctr" anchorCtr="0">
          <a:noAutofit/>
        </a:bodyPr>
        <a:lstStyle/>
        <a:p>
          <a:pPr marL="0" lvl="0" indent="0" algn="l" defTabSz="933450">
            <a:lnSpc>
              <a:spcPct val="90000"/>
            </a:lnSpc>
            <a:spcBef>
              <a:spcPct val="0"/>
            </a:spcBef>
            <a:spcAft>
              <a:spcPct val="35000"/>
            </a:spcAft>
            <a:buNone/>
          </a:pPr>
          <a:r>
            <a:rPr lang="en-US" sz="2100" kern="1200"/>
            <a:t>Data Source: ‘Colorado Healthcare: Decoding No-Show Patterns’ (Kaggle) a synthetic dataset with noise added via Google Gemini.</a:t>
          </a:r>
        </a:p>
      </dsp:txBody>
      <dsp:txXfrm>
        <a:off x="1910542" y="895997"/>
        <a:ext cx="4453681" cy="1654149"/>
      </dsp:txXfrm>
    </dsp:sp>
    <dsp:sp modelId="{13160212-D764-4057-A8E0-1FCBD094F716}">
      <dsp:nvSpPr>
        <dsp:cNvPr id="0" name=""/>
        <dsp:cNvSpPr/>
      </dsp:nvSpPr>
      <dsp:spPr>
        <a:xfrm>
          <a:off x="0" y="2963684"/>
          <a:ext cx="6364224" cy="165414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AE0C4F-B9CD-495D-8C65-7F42133A265E}">
      <dsp:nvSpPr>
        <dsp:cNvPr id="0" name=""/>
        <dsp:cNvSpPr/>
      </dsp:nvSpPr>
      <dsp:spPr>
        <a:xfrm>
          <a:off x="500380" y="3335868"/>
          <a:ext cx="909782" cy="9097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130431-92CA-4E4D-8CA3-E99C2201D1FC}">
      <dsp:nvSpPr>
        <dsp:cNvPr id="0" name=""/>
        <dsp:cNvSpPr/>
      </dsp:nvSpPr>
      <dsp:spPr>
        <a:xfrm>
          <a:off x="1910542" y="2963684"/>
          <a:ext cx="4453681" cy="1654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064" tIns="175064" rIns="175064" bIns="175064" numCol="1" spcCol="1270" anchor="ctr" anchorCtr="0">
          <a:noAutofit/>
        </a:bodyPr>
        <a:lstStyle/>
        <a:p>
          <a:pPr marL="0" lvl="0" indent="0" algn="l" defTabSz="933450">
            <a:lnSpc>
              <a:spcPct val="90000"/>
            </a:lnSpc>
            <a:spcBef>
              <a:spcPct val="0"/>
            </a:spcBef>
            <a:spcAft>
              <a:spcPct val="35000"/>
            </a:spcAft>
            <a:buNone/>
          </a:pPr>
          <a:r>
            <a:rPr lang="en-US" sz="2100" kern="1200"/>
            <a:t>Scope: 50,000 patient records from November 2023 to November 2024.</a:t>
          </a:r>
        </a:p>
      </dsp:txBody>
      <dsp:txXfrm>
        <a:off x="1910542" y="2963684"/>
        <a:ext cx="4453681" cy="16541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360D8D-4C73-4680-91E7-3B611154AD03}">
      <dsp:nvSpPr>
        <dsp:cNvPr id="0" name=""/>
        <dsp:cNvSpPr/>
      </dsp:nvSpPr>
      <dsp:spPr>
        <a:xfrm>
          <a:off x="0" y="13716"/>
          <a:ext cx="6364224" cy="13197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Normalization: Removed underscores from column names; applied “Capitalize Each Word” and “Trim” to text columns.</a:t>
          </a:r>
        </a:p>
      </dsp:txBody>
      <dsp:txXfrm>
        <a:off x="64425" y="78141"/>
        <a:ext cx="6235374" cy="1190909"/>
      </dsp:txXfrm>
    </dsp:sp>
    <dsp:sp modelId="{0854BA79-A307-4E7C-9959-7CA35D138B2B}">
      <dsp:nvSpPr>
        <dsp:cNvPr id="0" name=""/>
        <dsp:cNvSpPr/>
      </dsp:nvSpPr>
      <dsp:spPr>
        <a:xfrm>
          <a:off x="0" y="1402596"/>
          <a:ext cx="6364224" cy="131975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Quality Control: Replaced blanks with null.</a:t>
          </a:r>
        </a:p>
      </dsp:txBody>
      <dsp:txXfrm>
        <a:off x="64425" y="1467021"/>
        <a:ext cx="6235374" cy="1190909"/>
      </dsp:txXfrm>
    </dsp:sp>
    <dsp:sp modelId="{17A07F25-74FE-4014-BB65-C2FBDE013322}">
      <dsp:nvSpPr>
        <dsp:cNvPr id="0" name=""/>
        <dsp:cNvSpPr/>
      </dsp:nvSpPr>
      <dsp:spPr>
        <a:xfrm>
          <a:off x="0" y="2791476"/>
          <a:ext cx="6364224" cy="131975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Integrity: Removed duplicates from PatientID and filtered out empty PatientID and AppointmentOutcome records</a:t>
          </a:r>
        </a:p>
      </dsp:txBody>
      <dsp:txXfrm>
        <a:off x="64425" y="2855901"/>
        <a:ext cx="6235374" cy="1190909"/>
      </dsp:txXfrm>
    </dsp:sp>
    <dsp:sp modelId="{26A14EE1-22EA-43DC-929B-C3133828163B}">
      <dsp:nvSpPr>
        <dsp:cNvPr id="0" name=""/>
        <dsp:cNvSpPr/>
      </dsp:nvSpPr>
      <dsp:spPr>
        <a:xfrm>
          <a:off x="0" y="4180356"/>
          <a:ext cx="6364224" cy="13197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Decision Logic: Kept nulls in secondary columns to preserve the integrity of the primary outcome data.</a:t>
          </a:r>
        </a:p>
      </dsp:txBody>
      <dsp:txXfrm>
        <a:off x="64425" y="4244781"/>
        <a:ext cx="6235374" cy="1190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71AF76-87FE-498F-B14E-8F7480CEAF21}">
      <dsp:nvSpPr>
        <dsp:cNvPr id="0" name=""/>
        <dsp:cNvSpPr/>
      </dsp:nvSpPr>
      <dsp:spPr>
        <a:xfrm>
          <a:off x="0" y="242315"/>
          <a:ext cx="6364224" cy="12097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“Young Adult” Gap:  Patients aged 19-35 have the highest no-show rate at 60%, especially when lead time exceed 14 days.</a:t>
          </a:r>
        </a:p>
      </dsp:txBody>
      <dsp:txXfrm>
        <a:off x="59057" y="301372"/>
        <a:ext cx="6246110" cy="1091666"/>
      </dsp:txXfrm>
    </dsp:sp>
    <dsp:sp modelId="{9C234441-E812-4B98-91C8-5A7A5D47EA27}">
      <dsp:nvSpPr>
        <dsp:cNvPr id="0" name=""/>
        <dsp:cNvSpPr/>
      </dsp:nvSpPr>
      <dsp:spPr>
        <a:xfrm>
          <a:off x="0" y="1515455"/>
          <a:ext cx="6364224" cy="120978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transportation Barrier:  When transportation is unavailable, no-shows jump to 59%.  This is most acute for Uninsured(68%) and Medicaid (63%).</a:t>
          </a:r>
        </a:p>
      </dsp:txBody>
      <dsp:txXfrm>
        <a:off x="59057" y="1574512"/>
        <a:ext cx="6246110" cy="1091666"/>
      </dsp:txXfrm>
    </dsp:sp>
    <dsp:sp modelId="{DF7D0788-3827-43DC-BE09-26008576844B}">
      <dsp:nvSpPr>
        <dsp:cNvPr id="0" name=""/>
        <dsp:cNvSpPr/>
      </dsp:nvSpPr>
      <dsp:spPr>
        <a:xfrm>
          <a:off x="0" y="2788596"/>
          <a:ext cx="6364224" cy="120978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Lead Time Fatigue: No-shows climb steadily from 0-35 days, staying above clinic average after 49 days.</a:t>
          </a:r>
        </a:p>
      </dsp:txBody>
      <dsp:txXfrm>
        <a:off x="59057" y="2847653"/>
        <a:ext cx="6246110" cy="1091666"/>
      </dsp:txXfrm>
    </dsp:sp>
    <dsp:sp modelId="{17F64681-1537-48A8-A7EF-3B55AF630A7E}">
      <dsp:nvSpPr>
        <dsp:cNvPr id="0" name=""/>
        <dsp:cNvSpPr/>
      </dsp:nvSpPr>
      <dsp:spPr>
        <a:xfrm>
          <a:off x="0" y="4061736"/>
          <a:ext cx="6364224" cy="120978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Trend:  The problem is getting worse, trending upwards from 49.27% to 50.26% over the year.</a:t>
          </a:r>
        </a:p>
      </dsp:txBody>
      <dsp:txXfrm>
        <a:off x="59057" y="4120793"/>
        <a:ext cx="6246110" cy="10916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F7459-5230-4BF0-AF87-0D0BF7ECFFD4}">
      <dsp:nvSpPr>
        <dsp:cNvPr id="0" name=""/>
        <dsp:cNvSpPr/>
      </dsp:nvSpPr>
      <dsp:spPr>
        <a:xfrm>
          <a:off x="0" y="367770"/>
          <a:ext cx="6900512" cy="115478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Targeted Reminders: Implement a “High-Risk” SMS reminder protocol for the 19-35 age group, particularly for appointments booked greater than 14 days in advance.</a:t>
          </a:r>
        </a:p>
      </dsp:txBody>
      <dsp:txXfrm>
        <a:off x="56372" y="424142"/>
        <a:ext cx="6787768" cy="1042045"/>
      </dsp:txXfrm>
    </dsp:sp>
    <dsp:sp modelId="{90E29347-CEF2-4386-8937-69BC077FDB3F}">
      <dsp:nvSpPr>
        <dsp:cNvPr id="0" name=""/>
        <dsp:cNvSpPr/>
      </dsp:nvSpPr>
      <dsp:spPr>
        <a:xfrm>
          <a:off x="0" y="1583040"/>
          <a:ext cx="6900512" cy="1154789"/>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Transportation Partnerships: Explore a pilot program with ride-share services for Medicaid and Uninsured patients who flag “No Transportation”</a:t>
          </a:r>
        </a:p>
      </dsp:txBody>
      <dsp:txXfrm>
        <a:off x="56372" y="1639412"/>
        <a:ext cx="6787768" cy="1042045"/>
      </dsp:txXfrm>
    </dsp:sp>
    <dsp:sp modelId="{21B53979-0AE4-4233-95C6-1BEDF6066D31}">
      <dsp:nvSpPr>
        <dsp:cNvPr id="0" name=""/>
        <dsp:cNvSpPr/>
      </dsp:nvSpPr>
      <dsp:spPr>
        <a:xfrm>
          <a:off x="0" y="2798310"/>
          <a:ext cx="6900512" cy="1154789"/>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Shorten the Window: Reduce the “Days Lead Time” by implementing a waitlist system to fill gaps, as appointments booked 98 days out are highly likely to fail.</a:t>
          </a:r>
        </a:p>
      </dsp:txBody>
      <dsp:txXfrm>
        <a:off x="56372" y="2854682"/>
        <a:ext cx="6787768" cy="1042045"/>
      </dsp:txXfrm>
    </dsp:sp>
    <dsp:sp modelId="{7DA95786-8A4B-4D2B-BD9C-08BFA0F31869}">
      <dsp:nvSpPr>
        <dsp:cNvPr id="0" name=""/>
        <dsp:cNvSpPr/>
      </dsp:nvSpPr>
      <dsp:spPr>
        <a:xfrm>
          <a:off x="0" y="4013580"/>
          <a:ext cx="6900512" cy="115478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Audit the “Dirt”: Investigate why the no-show rate is 50%+ -- is there a technical glitch in how the clinic sends out appointment notifications?</a:t>
          </a:r>
        </a:p>
      </dsp:txBody>
      <dsp:txXfrm>
        <a:off x="56372" y="4069952"/>
        <a:ext cx="6787768" cy="10420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46E44-2070-4CED-A5E0-3A7F94C2AAC7}">
      <dsp:nvSpPr>
        <dsp:cNvPr id="0" name=""/>
        <dsp:cNvSpPr/>
      </dsp:nvSpPr>
      <dsp:spPr>
        <a:xfrm>
          <a:off x="0" y="365340"/>
          <a:ext cx="6900512" cy="235521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Summary: I identified that age, long lead times, and lack of transportation are the “perfect storm” for no-shows.</a:t>
          </a:r>
        </a:p>
      </dsp:txBody>
      <dsp:txXfrm>
        <a:off x="114972" y="480312"/>
        <a:ext cx="6670568" cy="2125266"/>
      </dsp:txXfrm>
    </dsp:sp>
    <dsp:sp modelId="{89D4C174-312D-47D3-88E1-B87074A76A59}">
      <dsp:nvSpPr>
        <dsp:cNvPr id="0" name=""/>
        <dsp:cNvSpPr/>
      </dsp:nvSpPr>
      <dsp:spPr>
        <a:xfrm>
          <a:off x="0" y="2815590"/>
          <a:ext cx="6900512" cy="235521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Final Word:  By focusing on the 19-35 demographic and transportation access, the clinic can reclaim significant lost revenue.</a:t>
          </a:r>
        </a:p>
      </dsp:txBody>
      <dsp:txXfrm>
        <a:off x="114972" y="2930562"/>
        <a:ext cx="6670568" cy="21252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F2BF1-E79D-494C-87E7-CB65A8C883C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AA615C-6ECE-40C6-9A2B-C8893A93E4FA}" type="slidenum">
              <a:rPr lang="en-US" smtClean="0"/>
              <a:t>‹#›</a:t>
            </a:fld>
            <a:endParaRPr lang="en-US"/>
          </a:p>
        </p:txBody>
      </p:sp>
    </p:spTree>
    <p:extLst>
      <p:ext uri="{BB962C8B-B14F-4D97-AF65-F5344CB8AC3E}">
        <p14:creationId xmlns:p14="http://schemas.microsoft.com/office/powerpoint/2010/main" val="1155477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AA615C-6ECE-40C6-9A2B-C8893A93E4FA}" type="slidenum">
              <a:rPr lang="en-US" smtClean="0"/>
              <a:t>1</a:t>
            </a:fld>
            <a:endParaRPr lang="en-US"/>
          </a:p>
        </p:txBody>
      </p:sp>
    </p:spTree>
    <p:extLst>
      <p:ext uri="{BB962C8B-B14F-4D97-AF65-F5344CB8AC3E}">
        <p14:creationId xmlns:p14="http://schemas.microsoft.com/office/powerpoint/2010/main" val="951793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be presenting my capstone project ‘Decoding No-Show Patterns’ for a regional healthcare clinic in Colorado.  The goal of this analysis is to transform raw appointment data into actionable insights that can improve operational efficiency and patient access.</a:t>
            </a:r>
          </a:p>
          <a:p>
            <a:endParaRPr lang="en-US" dirty="0"/>
          </a:p>
          <a:p>
            <a:r>
              <a:rPr lang="en-US" dirty="0"/>
              <a:t>During this presentation, I will walk you through the business problem, the data preparation process, my key findings, and specific recommendations for the clinic management.</a:t>
            </a:r>
          </a:p>
          <a:p>
            <a:endParaRPr lang="en-US" dirty="0"/>
          </a:p>
        </p:txBody>
      </p:sp>
      <p:sp>
        <p:nvSpPr>
          <p:cNvPr id="4" name="Slide Number Placeholder 3"/>
          <p:cNvSpPr>
            <a:spLocks noGrp="1"/>
          </p:cNvSpPr>
          <p:nvPr>
            <p:ph type="sldNum" sz="quarter" idx="5"/>
          </p:nvPr>
        </p:nvSpPr>
        <p:spPr/>
        <p:txBody>
          <a:bodyPr/>
          <a:lstStyle/>
          <a:p>
            <a:fld id="{E4AA615C-6ECE-40C6-9A2B-C8893A93E4FA}" type="slidenum">
              <a:rPr lang="en-US" smtClean="0"/>
              <a:t>2</a:t>
            </a:fld>
            <a:endParaRPr lang="en-US"/>
          </a:p>
        </p:txBody>
      </p:sp>
    </p:spTree>
    <p:extLst>
      <p:ext uri="{BB962C8B-B14F-4D97-AF65-F5344CB8AC3E}">
        <p14:creationId xmlns:p14="http://schemas.microsoft.com/office/powerpoint/2010/main" val="417215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is a Healthcare Operations Manger at a regional clinic in Colorado who is responsible for overseeing daily clinic operations, managing resources utilization, and ensuring scheduling efficiency.</a:t>
            </a:r>
          </a:p>
        </p:txBody>
      </p:sp>
      <p:sp>
        <p:nvSpPr>
          <p:cNvPr id="4" name="Slide Number Placeholder 3"/>
          <p:cNvSpPr>
            <a:spLocks noGrp="1"/>
          </p:cNvSpPr>
          <p:nvPr>
            <p:ph type="sldNum" sz="quarter" idx="5"/>
          </p:nvPr>
        </p:nvSpPr>
        <p:spPr/>
        <p:txBody>
          <a:bodyPr/>
          <a:lstStyle/>
          <a:p>
            <a:fld id="{E4AA615C-6ECE-40C6-9A2B-C8893A93E4FA}" type="slidenum">
              <a:rPr lang="en-US" smtClean="0"/>
              <a:t>3</a:t>
            </a:fld>
            <a:endParaRPr lang="en-US"/>
          </a:p>
        </p:txBody>
      </p:sp>
    </p:spTree>
    <p:extLst>
      <p:ext uri="{BB962C8B-B14F-4D97-AF65-F5344CB8AC3E}">
        <p14:creationId xmlns:p14="http://schemas.microsoft.com/office/powerpoint/2010/main" val="3525960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 Healthcare Operation Manager, is facing a critical challenge: high rates of missed appointments.  This isn’t just a scheduling inconvenience; no-shows directly reduce revenue, increase wait times for other patients, and significantly disrupt staff workflows.</a:t>
            </a:r>
          </a:p>
          <a:p>
            <a:endParaRPr lang="en-US" dirty="0"/>
          </a:p>
          <a:p>
            <a:r>
              <a:rPr lang="en-US" dirty="0"/>
              <a:t>The clinic needs to understand which patient factors are most closely associated with these missed appointments so they can design targeted interventions.</a:t>
            </a:r>
          </a:p>
        </p:txBody>
      </p:sp>
      <p:sp>
        <p:nvSpPr>
          <p:cNvPr id="4" name="Slide Number Placeholder 3"/>
          <p:cNvSpPr>
            <a:spLocks noGrp="1"/>
          </p:cNvSpPr>
          <p:nvPr>
            <p:ph type="sldNum" sz="quarter" idx="5"/>
          </p:nvPr>
        </p:nvSpPr>
        <p:spPr/>
        <p:txBody>
          <a:bodyPr/>
          <a:lstStyle/>
          <a:p>
            <a:fld id="{E4AA615C-6ECE-40C6-9A2B-C8893A93E4FA}" type="slidenum">
              <a:rPr lang="en-US" smtClean="0"/>
              <a:t>4</a:t>
            </a:fld>
            <a:endParaRPr lang="en-US"/>
          </a:p>
        </p:txBody>
      </p:sp>
    </p:spTree>
    <p:extLst>
      <p:ext uri="{BB962C8B-B14F-4D97-AF65-F5344CB8AC3E}">
        <p14:creationId xmlns:p14="http://schemas.microsoft.com/office/powerpoint/2010/main" val="260617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of this project is the ‘Colorado Healthcare: Decoding No-Show Patterns’ dataset from Kaggle, a synthetic dataset covering 50,000 appointments from November 2023 to November 2024.  While the original dataset was relatively clean – only having blank spaces – I introduced synthetic ‘dirt’ using Google Gemini to simulate real-world data.</a:t>
            </a:r>
          </a:p>
        </p:txBody>
      </p:sp>
      <p:sp>
        <p:nvSpPr>
          <p:cNvPr id="4" name="Slide Number Placeholder 3"/>
          <p:cNvSpPr>
            <a:spLocks noGrp="1"/>
          </p:cNvSpPr>
          <p:nvPr>
            <p:ph type="sldNum" sz="quarter" idx="5"/>
          </p:nvPr>
        </p:nvSpPr>
        <p:spPr/>
        <p:txBody>
          <a:bodyPr/>
          <a:lstStyle/>
          <a:p>
            <a:fld id="{E4AA615C-6ECE-40C6-9A2B-C8893A93E4FA}" type="slidenum">
              <a:rPr lang="en-US" smtClean="0"/>
              <a:t>5</a:t>
            </a:fld>
            <a:endParaRPr lang="en-US"/>
          </a:p>
        </p:txBody>
      </p:sp>
    </p:spTree>
    <p:extLst>
      <p:ext uri="{BB962C8B-B14F-4D97-AF65-F5344CB8AC3E}">
        <p14:creationId xmlns:p14="http://schemas.microsoft.com/office/powerpoint/2010/main" val="2766154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 ethical standpoint, because this data is synthetic, no one’s privacy was invaded.  However, if it wasn’t synthetic, it’s important to prioritize data that keeps patient identifiers anonymous.  This dataset simulates that by having patient ID numbers and not personal identifiable information.  This becomes more important when analyzing medical conditions.</a:t>
            </a:r>
          </a:p>
          <a:p>
            <a:endParaRPr lang="en-US" dirty="0"/>
          </a:p>
          <a:p>
            <a:r>
              <a:rPr lang="en-US" dirty="0"/>
              <a:t>One primary limitation to note, and as you will see when we get into the analysis, the current no-show rate is about 50%, which suggest either an extreme systemic issue at the clinic or a side effect of the synthetic data.</a:t>
            </a:r>
          </a:p>
        </p:txBody>
      </p:sp>
      <p:sp>
        <p:nvSpPr>
          <p:cNvPr id="4" name="Slide Number Placeholder 3"/>
          <p:cNvSpPr>
            <a:spLocks noGrp="1"/>
          </p:cNvSpPr>
          <p:nvPr>
            <p:ph type="sldNum" sz="quarter" idx="5"/>
          </p:nvPr>
        </p:nvSpPr>
        <p:spPr/>
        <p:txBody>
          <a:bodyPr/>
          <a:lstStyle/>
          <a:p>
            <a:fld id="{E4AA615C-6ECE-40C6-9A2B-C8893A93E4FA}" type="slidenum">
              <a:rPr lang="en-US" smtClean="0"/>
              <a:t>6</a:t>
            </a:fld>
            <a:endParaRPr lang="en-US"/>
          </a:p>
        </p:txBody>
      </p:sp>
    </p:spTree>
    <p:extLst>
      <p:ext uri="{BB962C8B-B14F-4D97-AF65-F5344CB8AC3E}">
        <p14:creationId xmlns:p14="http://schemas.microsoft.com/office/powerpoint/2010/main" val="3653934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the data was ready for analysis, I performed several transformations in Power BI.  I standardized column names by removing underscores and used ‘Capitalized each Word’ and ‘Trim’ functions to ensure text consistency.</a:t>
            </a:r>
          </a:p>
          <a:p>
            <a:endParaRPr lang="en-US" dirty="0"/>
          </a:p>
          <a:p>
            <a:r>
              <a:rPr lang="en-US" dirty="0"/>
              <a:t>I handled missing values by replacing blanks with ‘null’ and specifically removed empty records from ‘</a:t>
            </a:r>
            <a:r>
              <a:rPr lang="en-US" dirty="0" err="1"/>
              <a:t>PatientID</a:t>
            </a:r>
            <a:r>
              <a:rPr lang="en-US" dirty="0"/>
              <a:t> and ‘</a:t>
            </a:r>
            <a:r>
              <a:rPr lang="en-US" dirty="0" err="1"/>
              <a:t>AppointmentOutcome</a:t>
            </a:r>
            <a:r>
              <a:rPr lang="en-US" dirty="0"/>
              <a:t>’ columns to ensure the target variable was accurate.  I also removed duplicate </a:t>
            </a:r>
            <a:r>
              <a:rPr lang="en-US" dirty="0" err="1"/>
              <a:t>PatientIDs</a:t>
            </a:r>
            <a:r>
              <a:rPr lang="en-US" dirty="0"/>
              <a:t> to ensure each record represented a unique interaction.</a:t>
            </a:r>
          </a:p>
          <a:p>
            <a:endParaRPr lang="en-US" dirty="0"/>
          </a:p>
          <a:p>
            <a:r>
              <a:rPr lang="en-US" dirty="0"/>
              <a:t>I decided to keep nulls in secondary columns to preserve the integrity of the primary outcome data.</a:t>
            </a:r>
          </a:p>
        </p:txBody>
      </p:sp>
      <p:sp>
        <p:nvSpPr>
          <p:cNvPr id="4" name="Slide Number Placeholder 3"/>
          <p:cNvSpPr>
            <a:spLocks noGrp="1"/>
          </p:cNvSpPr>
          <p:nvPr>
            <p:ph type="sldNum" sz="quarter" idx="5"/>
          </p:nvPr>
        </p:nvSpPr>
        <p:spPr/>
        <p:txBody>
          <a:bodyPr/>
          <a:lstStyle/>
          <a:p>
            <a:fld id="{E4AA615C-6ECE-40C6-9A2B-C8893A93E4FA}" type="slidenum">
              <a:rPr lang="en-US" smtClean="0"/>
              <a:t>7</a:t>
            </a:fld>
            <a:endParaRPr lang="en-US"/>
          </a:p>
        </p:txBody>
      </p:sp>
    </p:spTree>
    <p:extLst>
      <p:ext uri="{BB962C8B-B14F-4D97-AF65-F5344CB8AC3E}">
        <p14:creationId xmlns:p14="http://schemas.microsoft.com/office/powerpoint/2010/main" val="2634585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AA615C-6ECE-40C6-9A2B-C8893A93E4FA}" type="slidenum">
              <a:rPr lang="en-US" smtClean="0"/>
              <a:t>9</a:t>
            </a:fld>
            <a:endParaRPr lang="en-US"/>
          </a:p>
        </p:txBody>
      </p:sp>
    </p:spTree>
    <p:extLst>
      <p:ext uri="{BB962C8B-B14F-4D97-AF65-F5344CB8AC3E}">
        <p14:creationId xmlns:p14="http://schemas.microsoft.com/office/powerpoint/2010/main" val="2322929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success, I focused on three primary KPIs: the Overall No-Show Rate, which gives the baseline; the No-show Rate by Segment, which helps find high-risk demographics; and High-Risk Identification Accuracy</a:t>
            </a:r>
          </a:p>
          <a:p>
            <a:endParaRPr lang="en-US" dirty="0"/>
          </a:p>
          <a:p>
            <a:r>
              <a:rPr lang="en-US" dirty="0"/>
              <a:t>As noted earlier, the current overall no-show rate is 50.14%, which serves as the benchmark for all subsequent comparisons.</a:t>
            </a:r>
          </a:p>
          <a:p>
            <a:endParaRPr lang="en-US" dirty="0"/>
          </a:p>
          <a:p>
            <a:r>
              <a:rPr lang="en-US" dirty="0"/>
              <a:t>**Tour Power BI**</a:t>
            </a:r>
          </a:p>
        </p:txBody>
      </p:sp>
      <p:sp>
        <p:nvSpPr>
          <p:cNvPr id="4" name="Slide Number Placeholder 3"/>
          <p:cNvSpPr>
            <a:spLocks noGrp="1"/>
          </p:cNvSpPr>
          <p:nvPr>
            <p:ph type="sldNum" sz="quarter" idx="5"/>
          </p:nvPr>
        </p:nvSpPr>
        <p:spPr/>
        <p:txBody>
          <a:bodyPr/>
          <a:lstStyle/>
          <a:p>
            <a:fld id="{E4AA615C-6ECE-40C6-9A2B-C8893A93E4FA}" type="slidenum">
              <a:rPr lang="en-US" smtClean="0"/>
              <a:t>10</a:t>
            </a:fld>
            <a:endParaRPr lang="en-US"/>
          </a:p>
        </p:txBody>
      </p:sp>
    </p:spTree>
    <p:extLst>
      <p:ext uri="{BB962C8B-B14F-4D97-AF65-F5344CB8AC3E}">
        <p14:creationId xmlns:p14="http://schemas.microsoft.com/office/powerpoint/2010/main" val="366172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analysis revealed a clear ‘High-Risk’ profile.  The most significant demographic factor is age: patients between 19-35 have a no-show rate of about 60%, about 10% higher than the clinic average.</a:t>
            </a:r>
          </a:p>
          <a:p>
            <a:endParaRPr lang="en-US" dirty="0"/>
          </a:p>
          <a:p>
            <a:r>
              <a:rPr lang="en-US" dirty="0"/>
              <a:t>Environment factors are also critical.  Patients without transportation access have 59% no-show rate.  When we look at the intersection of insurance and transportation, uninsured patients without a ride reach a staggering 68%.</a:t>
            </a:r>
          </a:p>
          <a:p>
            <a:endParaRPr lang="en-US" dirty="0"/>
          </a:p>
          <a:p>
            <a:r>
              <a:rPr lang="en-US" dirty="0"/>
              <a:t>Finally, timing matters.  We see a steady climb in no-shows as the ‘Lead Time’ increases.  Appointments booked 49 days in advance show no-show rate above clinic average.</a:t>
            </a:r>
          </a:p>
        </p:txBody>
      </p:sp>
      <p:sp>
        <p:nvSpPr>
          <p:cNvPr id="4" name="Slide Number Placeholder 3"/>
          <p:cNvSpPr>
            <a:spLocks noGrp="1"/>
          </p:cNvSpPr>
          <p:nvPr>
            <p:ph type="sldNum" sz="quarter" idx="5"/>
          </p:nvPr>
        </p:nvSpPr>
        <p:spPr/>
        <p:txBody>
          <a:bodyPr/>
          <a:lstStyle/>
          <a:p>
            <a:fld id="{E4AA615C-6ECE-40C6-9A2B-C8893A93E4FA}" type="slidenum">
              <a:rPr lang="en-US" smtClean="0"/>
              <a:t>11</a:t>
            </a:fld>
            <a:endParaRPr lang="en-US"/>
          </a:p>
        </p:txBody>
      </p:sp>
    </p:spTree>
    <p:extLst>
      <p:ext uri="{BB962C8B-B14F-4D97-AF65-F5344CB8AC3E}">
        <p14:creationId xmlns:p14="http://schemas.microsoft.com/office/powerpoint/2010/main" val="982910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Show live dashboard**</a:t>
            </a:r>
          </a:p>
          <a:p>
            <a:endParaRPr lang="en-US" dirty="0"/>
          </a:p>
          <a:p>
            <a:r>
              <a:rPr lang="en-US" dirty="0"/>
              <a:t>I developed a Power BI dashboard to help the Operations Manager make data-driven decisions.  It features a scorecard for the total no-show rate and a decomposition tree that allows users to drill down into the specific combinations of risk factors I described.</a:t>
            </a:r>
          </a:p>
          <a:p>
            <a:endParaRPr lang="en-US" dirty="0"/>
          </a:p>
          <a:p>
            <a:r>
              <a:rPr lang="en-US" dirty="0"/>
              <a:t>This tool doesn’t just show what happened, it helps the clinic predict who is most likely to miss their next appointment based on their age, insurance type, transportation access, and lead time.</a:t>
            </a:r>
          </a:p>
        </p:txBody>
      </p:sp>
      <p:sp>
        <p:nvSpPr>
          <p:cNvPr id="4" name="Slide Number Placeholder 3"/>
          <p:cNvSpPr>
            <a:spLocks noGrp="1"/>
          </p:cNvSpPr>
          <p:nvPr>
            <p:ph type="sldNum" sz="quarter" idx="5"/>
          </p:nvPr>
        </p:nvSpPr>
        <p:spPr/>
        <p:txBody>
          <a:bodyPr/>
          <a:lstStyle/>
          <a:p>
            <a:fld id="{E4AA615C-6ECE-40C6-9A2B-C8893A93E4FA}" type="slidenum">
              <a:rPr lang="en-US" smtClean="0"/>
              <a:t>12</a:t>
            </a:fld>
            <a:endParaRPr lang="en-US"/>
          </a:p>
        </p:txBody>
      </p:sp>
    </p:spTree>
    <p:extLst>
      <p:ext uri="{BB962C8B-B14F-4D97-AF65-F5344CB8AC3E}">
        <p14:creationId xmlns:p14="http://schemas.microsoft.com/office/powerpoint/2010/main" val="1121440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 I have a few recommendations for the clinic:</a:t>
            </a:r>
          </a:p>
          <a:p>
            <a:endParaRPr lang="en-US" dirty="0"/>
          </a:p>
          <a:p>
            <a:r>
              <a:rPr lang="en-US" dirty="0"/>
              <a:t>1. Implement a targeted reminder system: Prioritize automated SMS or phone call reminders for the 19-35 age demographic, especially for appointments booked more than two weeks in advance.</a:t>
            </a:r>
          </a:p>
          <a:p>
            <a:endParaRPr lang="en-US" dirty="0"/>
          </a:p>
          <a:p>
            <a:r>
              <a:rPr lang="en-US" dirty="0"/>
              <a:t>2. Address transportation barriers: since transportation is a major hurdle for Medicaid and Uninsured patients, the clinic should explore partnerships with local transit or ride-share services.</a:t>
            </a:r>
          </a:p>
          <a:p>
            <a:endParaRPr lang="en-US" dirty="0"/>
          </a:p>
          <a:p>
            <a:r>
              <a:rPr lang="en-US" dirty="0"/>
              <a:t>3. Optimize lead times: the data shows that the longer a patient waits for an appointment, the less likely they are to show.  I recommend a waitlist system to move high-risk patients to sooner openings.</a:t>
            </a:r>
          </a:p>
          <a:p>
            <a:endParaRPr lang="en-US" dirty="0"/>
          </a:p>
          <a:p>
            <a:r>
              <a:rPr lang="en-US" dirty="0"/>
              <a:t>4. Audit the ‘Dirt’: investigate why the overall no-show rate is so high.  Investigate if there is a technical glitch in how the </a:t>
            </a:r>
            <a:r>
              <a:rPr lang="en-US"/>
              <a:t>clinic sends </a:t>
            </a:r>
            <a:r>
              <a:rPr lang="en-US" dirty="0"/>
              <a:t>out appointment notifications.</a:t>
            </a:r>
          </a:p>
        </p:txBody>
      </p:sp>
      <p:sp>
        <p:nvSpPr>
          <p:cNvPr id="4" name="Slide Number Placeholder 3"/>
          <p:cNvSpPr>
            <a:spLocks noGrp="1"/>
          </p:cNvSpPr>
          <p:nvPr>
            <p:ph type="sldNum" sz="quarter" idx="5"/>
          </p:nvPr>
        </p:nvSpPr>
        <p:spPr/>
        <p:txBody>
          <a:bodyPr/>
          <a:lstStyle/>
          <a:p>
            <a:fld id="{E4AA615C-6ECE-40C6-9A2B-C8893A93E4FA}" type="slidenum">
              <a:rPr lang="en-US" smtClean="0"/>
              <a:t>13</a:t>
            </a:fld>
            <a:endParaRPr lang="en-US"/>
          </a:p>
        </p:txBody>
      </p:sp>
    </p:spTree>
    <p:extLst>
      <p:ext uri="{BB962C8B-B14F-4D97-AF65-F5344CB8AC3E}">
        <p14:creationId xmlns:p14="http://schemas.microsoft.com/office/powerpoint/2010/main" val="762132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while the current no-show rate is high, the data provides a clear roadmap for intervention.  By focusing on young adults, addressing transportation gaps, and managing lead times, the clinic can significantly improve its operational health.</a:t>
            </a:r>
          </a:p>
          <a:p>
            <a:endParaRPr lang="en-US" dirty="0"/>
          </a:p>
          <a:p>
            <a:r>
              <a:rPr lang="en-US" dirty="0"/>
              <a:t>Thank you for your time.  I am now happy to answer any questions you may have regarding the data, the cleaning process, or my recommendations.</a:t>
            </a:r>
          </a:p>
        </p:txBody>
      </p:sp>
      <p:sp>
        <p:nvSpPr>
          <p:cNvPr id="4" name="Slide Number Placeholder 3"/>
          <p:cNvSpPr>
            <a:spLocks noGrp="1"/>
          </p:cNvSpPr>
          <p:nvPr>
            <p:ph type="sldNum" sz="quarter" idx="5"/>
          </p:nvPr>
        </p:nvSpPr>
        <p:spPr/>
        <p:txBody>
          <a:bodyPr/>
          <a:lstStyle/>
          <a:p>
            <a:fld id="{E4AA615C-6ECE-40C6-9A2B-C8893A93E4FA}" type="slidenum">
              <a:rPr lang="en-US" smtClean="0"/>
              <a:t>14</a:t>
            </a:fld>
            <a:endParaRPr lang="en-US"/>
          </a:p>
        </p:txBody>
      </p:sp>
    </p:spTree>
    <p:extLst>
      <p:ext uri="{BB962C8B-B14F-4D97-AF65-F5344CB8AC3E}">
        <p14:creationId xmlns:p14="http://schemas.microsoft.com/office/powerpoint/2010/main" val="3678842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B5259-0AED-163C-F437-2A0C0B323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609D56-AF58-2B2F-094F-B4702D59E0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6D8CA1-F4F8-9014-2735-8197AC107347}"/>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FE2F404A-3B8B-9CE4-8B0A-3DA30648E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81D31-6230-DDD0-014C-B6654069E7EF}"/>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3567437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42603-09C1-D6BC-F487-2CFD7B1B0A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F5C95F-0C6A-CF3F-7878-4CC0765CC7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264570-849E-3869-81E5-CD436349D574}"/>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34420EFE-3C42-4058-FAC6-2DC69126FC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1A0EC-738C-EA94-1048-3D167FCF6134}"/>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273721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B0690-5EFD-2C62-5A5D-D7F5CEA20C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7DA3CD-C029-24B5-D893-B87ADBB4B5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A3EA8C-8D57-C6C4-82DE-2951E1B40552}"/>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FAD628FC-8E39-7ADB-1ADE-92034513D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A74091-811D-982A-2F81-7F206B531395}"/>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918005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0A85-F215-A35D-6C16-CFF2BD187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AFDE69-02A1-722C-C4CE-5E909B1C01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428A91-4A9C-17FE-468A-BBA405A306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EB5FC8-9454-1B5F-5813-FDB49DBDB5FE}"/>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6" name="Footer Placeholder 5">
            <a:extLst>
              <a:ext uri="{FF2B5EF4-FFF2-40B4-BE49-F238E27FC236}">
                <a16:creationId xmlns:a16="http://schemas.microsoft.com/office/drawing/2014/main" id="{F9B582B7-854E-AEF2-2EDD-D0C5519930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9F815-E800-061E-C76F-F7CBB42C7662}"/>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2928697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D881A-561F-33E9-83E1-17C0EA4576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584428-4DDB-8E4D-CC3E-747437EB22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FFE463-ACEF-3849-E5DF-C18CCD23B4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3BFFEE-41C5-7D36-493A-C863EEA9CE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07C1D6-FB15-0B53-C97A-C90BDE4BFB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71F8CA-BC83-FA02-7BF2-7F9E3C9C6CE8}"/>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8" name="Footer Placeholder 7">
            <a:extLst>
              <a:ext uri="{FF2B5EF4-FFF2-40B4-BE49-F238E27FC236}">
                <a16:creationId xmlns:a16="http://schemas.microsoft.com/office/drawing/2014/main" id="{D95FF0FE-FD05-D8C8-1544-139D5B972F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CA0842-9426-A21E-A4A2-C2C211AAC206}"/>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322943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FB3F0-C643-DED4-F88B-D29757A570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559EE-51AF-C33D-9279-F23C1E46D4A3}"/>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4" name="Footer Placeholder 3">
            <a:extLst>
              <a:ext uri="{FF2B5EF4-FFF2-40B4-BE49-F238E27FC236}">
                <a16:creationId xmlns:a16="http://schemas.microsoft.com/office/drawing/2014/main" id="{D4A55734-56B8-74F4-4DB4-C64BF4DF75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6E6947-AB86-D26C-A535-E9CF7629D6F8}"/>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3643925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731EE-E27C-F173-F106-190BEF2F333E}"/>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3" name="Footer Placeholder 2">
            <a:extLst>
              <a:ext uri="{FF2B5EF4-FFF2-40B4-BE49-F238E27FC236}">
                <a16:creationId xmlns:a16="http://schemas.microsoft.com/office/drawing/2014/main" id="{BEA673C5-C78A-F13B-47B5-B5E8EB210C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22A112-4E0A-C3C8-9675-845398ABB9D0}"/>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335611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307B-67F3-2034-30E4-D932E3D8A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51D9F3-F19D-F0F7-0307-2AA9873E4F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BBC964-C23C-9472-7896-304A005722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694BF-2653-BB22-441F-6D3BDC55B3D8}"/>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6" name="Footer Placeholder 5">
            <a:extLst>
              <a:ext uri="{FF2B5EF4-FFF2-40B4-BE49-F238E27FC236}">
                <a16:creationId xmlns:a16="http://schemas.microsoft.com/office/drawing/2014/main" id="{665F77F6-CB61-07D5-BE74-E4C44362D2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B6C10-6B3E-4184-80E5-CF8999D3FD55}"/>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2268427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BCC0B-940C-BEC7-61FE-8F76E1039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C78440-7774-9F76-F575-2D202FC71C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61D3BA-A5A8-E89A-BF62-B538D053C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F05CE-9FD8-4E6C-D044-414781E6B78A}"/>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6" name="Footer Placeholder 5">
            <a:extLst>
              <a:ext uri="{FF2B5EF4-FFF2-40B4-BE49-F238E27FC236}">
                <a16:creationId xmlns:a16="http://schemas.microsoft.com/office/drawing/2014/main" id="{36657785-5071-7D6E-CFF7-0461192BD4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AD689-C622-AC05-903C-E8E223B5688B}"/>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3931824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389B-ADEF-035B-F70E-7F96440CEA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98DD9-3384-649E-D4EA-0969D07CC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700C3A-715D-159E-5E7E-3F2912D60E6C}"/>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3D794D53-C3CD-4E8B-D215-20E8F17F2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EAA30-444D-832C-10EA-11B428FD7C2B}"/>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62894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1B015B-0B64-B4B6-26CC-24BBDE2A0B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BD1D6-F19B-2368-79C8-2231C00ABE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22263E-F316-1CE9-D1BA-F23B9DA60EDA}"/>
              </a:ext>
            </a:extLst>
          </p:cNvPr>
          <p:cNvSpPr>
            <a:spLocks noGrp="1"/>
          </p:cNvSpPr>
          <p:nvPr>
            <p:ph type="dt" sz="half" idx="10"/>
          </p:nvPr>
        </p:nvSpPr>
        <p:spPr/>
        <p:txBody>
          <a:body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BE5BEAFC-19C3-E47A-4523-8DD6132BD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AE027-E658-2377-C40C-07B3A599B5D1}"/>
              </a:ext>
            </a:extLst>
          </p:cNvPr>
          <p:cNvSpPr>
            <a:spLocks noGrp="1"/>
          </p:cNvSpPr>
          <p:nvPr>
            <p:ph type="sldNum" sz="quarter" idx="12"/>
          </p:nvPr>
        </p:nvSpPr>
        <p:spPr/>
        <p:txBody>
          <a:bodyPr/>
          <a:lstStyle/>
          <a:p>
            <a:fld id="{E96A4E98-937B-4A46-96C1-AFE54C2337E5}" type="slidenum">
              <a:rPr lang="en-US" smtClean="0"/>
              <a:t>‹#›</a:t>
            </a:fld>
            <a:endParaRPr lang="en-US"/>
          </a:p>
        </p:txBody>
      </p:sp>
    </p:spTree>
    <p:extLst>
      <p:ext uri="{BB962C8B-B14F-4D97-AF65-F5344CB8AC3E}">
        <p14:creationId xmlns:p14="http://schemas.microsoft.com/office/powerpoint/2010/main" val="4107671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3DBA8F-5850-4ABC-6E21-E1B21D814B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C33680-1E64-0DFF-2EF7-68F3B49BBA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A398D-85A9-C458-3D12-5136D004F2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B0A597-CD2F-4334-B15F-07BE4E3A8BB9}" type="datetimeFigureOut">
              <a:rPr lang="en-US" smtClean="0"/>
              <a:t>4/22/2026</a:t>
            </a:fld>
            <a:endParaRPr lang="en-US"/>
          </a:p>
        </p:txBody>
      </p:sp>
      <p:sp>
        <p:nvSpPr>
          <p:cNvPr id="5" name="Footer Placeholder 4">
            <a:extLst>
              <a:ext uri="{FF2B5EF4-FFF2-40B4-BE49-F238E27FC236}">
                <a16:creationId xmlns:a16="http://schemas.microsoft.com/office/drawing/2014/main" id="{5F831D4B-BD3A-CA1C-D707-013EC296FF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3A2580B-410A-2873-5448-4798FADA46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6A4E98-937B-4A46-96C1-AFE54C2337E5}" type="slidenum">
              <a:rPr lang="en-US" smtClean="0"/>
              <a:t>‹#›</a:t>
            </a:fld>
            <a:endParaRPr lang="en-US"/>
          </a:p>
        </p:txBody>
      </p:sp>
    </p:spTree>
    <p:extLst>
      <p:ext uri="{BB962C8B-B14F-4D97-AF65-F5344CB8AC3E}">
        <p14:creationId xmlns:p14="http://schemas.microsoft.com/office/powerpoint/2010/main" val="3654660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33658A87-5094-0934-A9AF-D935DF8C327A}"/>
              </a:ext>
            </a:extLst>
          </p:cNvPr>
          <p:cNvSpPr>
            <a:spLocks noGrp="1"/>
          </p:cNvSpPr>
          <p:nvPr>
            <p:ph type="ctrTitle"/>
          </p:nvPr>
        </p:nvSpPr>
        <p:spPr>
          <a:xfrm>
            <a:off x="3315031" y="1380754"/>
            <a:ext cx="5561938" cy="2513516"/>
          </a:xfrm>
        </p:spPr>
        <p:txBody>
          <a:bodyPr>
            <a:normAutofit/>
          </a:bodyPr>
          <a:lstStyle/>
          <a:p>
            <a:r>
              <a:rPr lang="en-US" dirty="0"/>
              <a:t>Decoding No-Show Patterns</a:t>
            </a:r>
          </a:p>
        </p:txBody>
      </p:sp>
      <p:sp>
        <p:nvSpPr>
          <p:cNvPr id="3" name="Subtitle 2">
            <a:extLst>
              <a:ext uri="{FF2B5EF4-FFF2-40B4-BE49-F238E27FC236}">
                <a16:creationId xmlns:a16="http://schemas.microsoft.com/office/drawing/2014/main" id="{59EF7102-993E-4622-8DEB-46AFB1C2913A}"/>
              </a:ext>
            </a:extLst>
          </p:cNvPr>
          <p:cNvSpPr>
            <a:spLocks noGrp="1"/>
          </p:cNvSpPr>
          <p:nvPr>
            <p:ph type="subTitle" idx="1"/>
          </p:nvPr>
        </p:nvSpPr>
        <p:spPr>
          <a:xfrm>
            <a:off x="3315031" y="4076802"/>
            <a:ext cx="5561938" cy="1534587"/>
          </a:xfrm>
        </p:spPr>
        <p:txBody>
          <a:bodyPr>
            <a:normAutofit/>
          </a:bodyPr>
          <a:lstStyle/>
          <a:p>
            <a:endParaRPr lang="en-US" dirty="0"/>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7633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A61E43-CD8C-C938-ED3B-4A2B00CAEE1A}"/>
              </a:ext>
            </a:extLst>
          </p:cNvPr>
          <p:cNvSpPr>
            <a:spLocks noGrp="1"/>
          </p:cNvSpPr>
          <p:nvPr>
            <p:ph type="title"/>
          </p:nvPr>
        </p:nvSpPr>
        <p:spPr>
          <a:xfrm>
            <a:off x="686834" y="1153572"/>
            <a:ext cx="3200400" cy="4461163"/>
          </a:xfrm>
        </p:spPr>
        <p:txBody>
          <a:bodyPr>
            <a:normAutofit/>
          </a:bodyPr>
          <a:lstStyle/>
          <a:p>
            <a:r>
              <a:rPr lang="en-US">
                <a:solidFill>
                  <a:srgbClr val="FFFFFF"/>
                </a:solidFill>
              </a:rPr>
              <a:t>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A39158D-5B69-9E16-37FD-F1DAE77F6234}"/>
              </a:ext>
            </a:extLst>
          </p:cNvPr>
          <p:cNvSpPr>
            <a:spLocks noGrp="1"/>
          </p:cNvSpPr>
          <p:nvPr>
            <p:ph idx="1"/>
          </p:nvPr>
        </p:nvSpPr>
        <p:spPr>
          <a:xfrm>
            <a:off x="4447308" y="591344"/>
            <a:ext cx="6906491" cy="5585619"/>
          </a:xfrm>
        </p:spPr>
        <p:txBody>
          <a:bodyPr anchor="ctr">
            <a:normAutofit/>
          </a:bodyPr>
          <a:lstStyle/>
          <a:p>
            <a:pPr marL="0" indent="0">
              <a:buNone/>
            </a:pPr>
            <a:r>
              <a:rPr lang="en-US" dirty="0"/>
              <a:t>Business Problem:  Understanding the drivers behind missed appointments</a:t>
            </a:r>
          </a:p>
          <a:p>
            <a:pPr marL="0" indent="0">
              <a:buNone/>
            </a:pPr>
            <a:endParaRPr lang="en-US" dirty="0"/>
          </a:p>
          <a:p>
            <a:pPr marL="0" indent="0">
              <a:buNone/>
            </a:pPr>
            <a:r>
              <a:rPr lang="en-US" dirty="0"/>
              <a:t>Stakeholder:  Healthcare Operations Manager focused on scheduling efficiency</a:t>
            </a:r>
          </a:p>
          <a:p>
            <a:pPr marL="0" indent="0">
              <a:buNone/>
            </a:pPr>
            <a:endParaRPr lang="en-US" dirty="0"/>
          </a:p>
          <a:p>
            <a:pPr marL="0" indent="0">
              <a:buNone/>
            </a:pPr>
            <a:r>
              <a:rPr lang="en-US" dirty="0"/>
              <a:t>The Journey: Data Sourcing → Cleaning → Analysis → Dashboard → Recommendations.</a:t>
            </a:r>
          </a:p>
        </p:txBody>
      </p:sp>
    </p:spTree>
    <p:extLst>
      <p:ext uri="{BB962C8B-B14F-4D97-AF65-F5344CB8AC3E}">
        <p14:creationId xmlns:p14="http://schemas.microsoft.com/office/powerpoint/2010/main" val="401246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04EEA9-0B0A-9337-F3B2-D3800408A4B9}"/>
              </a:ext>
            </a:extLst>
          </p:cNvPr>
          <p:cNvSpPr>
            <a:spLocks noGrp="1"/>
          </p:cNvSpPr>
          <p:nvPr>
            <p:ph type="title"/>
          </p:nvPr>
        </p:nvSpPr>
        <p:spPr>
          <a:xfrm>
            <a:off x="956826" y="1112969"/>
            <a:ext cx="3937298" cy="4166010"/>
          </a:xfrm>
        </p:spPr>
        <p:txBody>
          <a:bodyPr>
            <a:normAutofit/>
          </a:bodyPr>
          <a:lstStyle/>
          <a:p>
            <a:r>
              <a:rPr lang="en-US" dirty="0">
                <a:solidFill>
                  <a:srgbClr val="FFFFFF"/>
                </a:solidFill>
              </a:rPr>
              <a:t>Stakeholder Persona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3DB8066-9CC9-93BD-B875-26E9DE0D34E7}"/>
              </a:ext>
            </a:extLst>
          </p:cNvPr>
          <p:cNvSpPr>
            <a:spLocks noGrp="1"/>
          </p:cNvSpPr>
          <p:nvPr>
            <p:ph idx="1"/>
          </p:nvPr>
        </p:nvSpPr>
        <p:spPr>
          <a:xfrm>
            <a:off x="6096000" y="1565565"/>
            <a:ext cx="5257799" cy="2742532"/>
          </a:xfrm>
        </p:spPr>
        <p:txBody>
          <a:bodyPr anchor="t">
            <a:normAutofit/>
          </a:bodyPr>
          <a:lstStyle/>
          <a:p>
            <a:pPr marL="0" indent="0">
              <a:buNone/>
            </a:pPr>
            <a:r>
              <a:rPr lang="en-US" sz="2400" dirty="0"/>
              <a:t>Role: Healthcare Operations Manager at a regional clinic in Colorado</a:t>
            </a:r>
          </a:p>
          <a:p>
            <a:pPr marL="0" indent="0">
              <a:buNone/>
            </a:pPr>
            <a:endParaRPr lang="en-US" sz="2400" dirty="0"/>
          </a:p>
          <a:p>
            <a:pPr marL="0" indent="0">
              <a:buNone/>
            </a:pPr>
            <a:r>
              <a:rPr lang="en-US" sz="2400" dirty="0"/>
              <a:t>Responsibilities: Overseeing daily clinic operations, managing resources utilization, and ensuring scheduling efficiency.</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357340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54B03-839A-1C50-E6A7-A862F3569C45}"/>
              </a:ext>
            </a:extLst>
          </p:cNvPr>
          <p:cNvSpPr>
            <a:spLocks noGrp="1"/>
          </p:cNvSpPr>
          <p:nvPr>
            <p:ph type="title"/>
          </p:nvPr>
        </p:nvSpPr>
        <p:spPr>
          <a:xfrm>
            <a:off x="838200" y="365125"/>
            <a:ext cx="5558489" cy="1325563"/>
          </a:xfrm>
        </p:spPr>
        <p:txBody>
          <a:bodyPr>
            <a:normAutofit/>
          </a:bodyPr>
          <a:lstStyle/>
          <a:p>
            <a:r>
              <a:rPr lang="en-US" dirty="0"/>
              <a:t>The Business Problem</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8D7B663-13AC-283C-54C2-4EF560FB5798}"/>
              </a:ext>
            </a:extLst>
          </p:cNvPr>
          <p:cNvSpPr>
            <a:spLocks noGrp="1"/>
          </p:cNvSpPr>
          <p:nvPr>
            <p:ph idx="1"/>
          </p:nvPr>
        </p:nvSpPr>
        <p:spPr>
          <a:xfrm>
            <a:off x="838200" y="1825625"/>
            <a:ext cx="5558489" cy="4351338"/>
          </a:xfrm>
        </p:spPr>
        <p:txBody>
          <a:bodyPr>
            <a:normAutofit/>
          </a:bodyPr>
          <a:lstStyle/>
          <a:p>
            <a:pPr marL="0" indent="0">
              <a:buNone/>
            </a:pPr>
            <a:r>
              <a:rPr lang="en-US" sz="1800"/>
              <a:t>Problem Statement: High no-show rates reduce clinic efficiency, limit patient access, and increase operational cost.</a:t>
            </a:r>
          </a:p>
          <a:p>
            <a:pPr marL="0" indent="0">
              <a:buNone/>
            </a:pPr>
            <a:endParaRPr lang="en-US" sz="1800"/>
          </a:p>
          <a:p>
            <a:pPr marL="0" indent="0">
              <a:buNone/>
            </a:pPr>
            <a:r>
              <a:rPr lang="en-US" sz="1800"/>
              <a:t>Why it Matters:  Missed appointment disrupt workflows and reduce revenue in a regional clinic setting.</a:t>
            </a:r>
          </a:p>
          <a:p>
            <a:pPr marL="0" indent="0">
              <a:buNone/>
            </a:pPr>
            <a:endParaRPr lang="en-US" sz="1800"/>
          </a:p>
          <a:p>
            <a:pPr marL="0" indent="0">
              <a:buNone/>
            </a:pPr>
            <a:r>
              <a:rPr lang="en-US" sz="1800"/>
              <a:t>Key Questions: </a:t>
            </a:r>
          </a:p>
          <a:p>
            <a:r>
              <a:rPr lang="en-US" sz="1800"/>
              <a:t>Which demographics are highest risk?</a:t>
            </a:r>
          </a:p>
          <a:p>
            <a:r>
              <a:rPr lang="en-US" sz="1800"/>
              <a:t>Does transportation access or distance impact attendance?</a:t>
            </a:r>
          </a:p>
          <a:p>
            <a:r>
              <a:rPr lang="en-US" sz="1800"/>
              <a:t>How do lead times influence the no-show rate?</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8031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961520-3334-3C66-4AF9-9D5FE5EFC564}"/>
              </a:ext>
            </a:extLst>
          </p:cNvPr>
          <p:cNvSpPr>
            <a:spLocks noGrp="1"/>
          </p:cNvSpPr>
          <p:nvPr>
            <p:ph type="title"/>
          </p:nvPr>
        </p:nvSpPr>
        <p:spPr>
          <a:xfrm>
            <a:off x="621792" y="1161288"/>
            <a:ext cx="3602736" cy="4526280"/>
          </a:xfrm>
        </p:spPr>
        <p:txBody>
          <a:bodyPr>
            <a:normAutofit/>
          </a:bodyPr>
          <a:lstStyle/>
          <a:p>
            <a:r>
              <a:rPr lang="en-US" sz="4000" dirty="0"/>
              <a:t>Data Source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7D71623-994C-5CF1-3105-D091D1C46346}"/>
              </a:ext>
            </a:extLst>
          </p:cNvPr>
          <p:cNvGraphicFramePr>
            <a:graphicFrameLocks noGrp="1"/>
          </p:cNvGraphicFramePr>
          <p:nvPr>
            <p:ph idx="1"/>
            <p:extLst>
              <p:ext uri="{D42A27DB-BD31-4B8C-83A1-F6EECF244321}">
                <p14:modId xmlns:p14="http://schemas.microsoft.com/office/powerpoint/2010/main" val="62468018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1493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D239EC-EE3D-4CFD-5CD4-C91780261615}"/>
              </a:ext>
            </a:extLst>
          </p:cNvPr>
          <p:cNvSpPr>
            <a:spLocks noGrp="1"/>
          </p:cNvSpPr>
          <p:nvPr>
            <p:ph type="title"/>
          </p:nvPr>
        </p:nvSpPr>
        <p:spPr>
          <a:xfrm>
            <a:off x="1171074" y="1396686"/>
            <a:ext cx="3240506" cy="4064628"/>
          </a:xfrm>
        </p:spPr>
        <p:txBody>
          <a:bodyPr>
            <a:normAutofit/>
          </a:bodyPr>
          <a:lstStyle/>
          <a:p>
            <a:r>
              <a:rPr lang="en-US">
                <a:solidFill>
                  <a:srgbClr val="FFFFFF"/>
                </a:solidFill>
              </a:rPr>
              <a:t>Ethics, privacy, and limitations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C3FEAB1-5F29-959F-E217-8A07538974EA}"/>
              </a:ext>
            </a:extLst>
          </p:cNvPr>
          <p:cNvSpPr>
            <a:spLocks noGrp="1"/>
          </p:cNvSpPr>
          <p:nvPr>
            <p:ph idx="1"/>
          </p:nvPr>
        </p:nvSpPr>
        <p:spPr>
          <a:xfrm>
            <a:off x="5370153" y="1526033"/>
            <a:ext cx="5536397" cy="3935281"/>
          </a:xfrm>
        </p:spPr>
        <p:txBody>
          <a:bodyPr>
            <a:normAutofit/>
          </a:bodyPr>
          <a:lstStyle/>
          <a:p>
            <a:pPr marL="0" indent="0">
              <a:buNone/>
            </a:pPr>
            <a:r>
              <a:rPr lang="en-US" sz="2200"/>
              <a:t>Ethics &amp; Privacy:  All data is synthetic; however, analyzing “Mental Health” or “Chronic Disease” require strict adherence to HIPAA-like privacy standards.</a:t>
            </a:r>
          </a:p>
          <a:p>
            <a:pPr marL="0" indent="0">
              <a:buNone/>
            </a:pPr>
            <a:endParaRPr lang="en-US" sz="2200"/>
          </a:p>
          <a:p>
            <a:pPr marL="0" indent="0">
              <a:buNone/>
            </a:pPr>
            <a:r>
              <a:rPr lang="en-US" sz="2200"/>
              <a:t>Limitations:  The 50.14% no-show rate is exceptionally high for real-world clinic (typically 10-20%).  This suggest either a data ‘dirt’ anomaly or a systemic failure in the clinic’s reminder system (or possibly a lack of one)</a:t>
            </a:r>
          </a:p>
          <a:p>
            <a:pPr marL="0" indent="0">
              <a:buNone/>
            </a:pPr>
            <a:endParaRPr lang="en-US" sz="2200"/>
          </a:p>
        </p:txBody>
      </p:sp>
    </p:spTree>
    <p:extLst>
      <p:ext uri="{BB962C8B-B14F-4D97-AF65-F5344CB8AC3E}">
        <p14:creationId xmlns:p14="http://schemas.microsoft.com/office/powerpoint/2010/main" val="1939425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9C596F-511A-8F55-1F08-EBE4D12BEBC3}"/>
              </a:ext>
            </a:extLst>
          </p:cNvPr>
          <p:cNvSpPr>
            <a:spLocks noGrp="1"/>
          </p:cNvSpPr>
          <p:nvPr>
            <p:ph type="title"/>
          </p:nvPr>
        </p:nvSpPr>
        <p:spPr>
          <a:xfrm>
            <a:off x="621792" y="1161288"/>
            <a:ext cx="3602736" cy="4526280"/>
          </a:xfrm>
        </p:spPr>
        <p:txBody>
          <a:bodyPr>
            <a:normAutofit/>
          </a:bodyPr>
          <a:lstStyle/>
          <a:p>
            <a:r>
              <a:rPr lang="en-US" sz="4000"/>
              <a:t>Data cleaning and transformation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03DE66B-0376-F051-2D09-E44E59F94B1A}"/>
              </a:ext>
            </a:extLst>
          </p:cNvPr>
          <p:cNvGraphicFramePr>
            <a:graphicFrameLocks noGrp="1"/>
          </p:cNvGraphicFramePr>
          <p:nvPr>
            <p:ph idx="1"/>
            <p:extLst>
              <p:ext uri="{D42A27DB-BD31-4B8C-83A1-F6EECF244321}">
                <p14:modId xmlns:p14="http://schemas.microsoft.com/office/powerpoint/2010/main" val="3997261714"/>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5634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59EDCA-0F57-2115-02A5-E0A6F36E35B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5333"/>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D6490-2AA8-AE9E-B345-FD720C148A30}"/>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Dirty Data</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4330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8117B4-4807-6A1A-0849-8EA34BBBD1F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5333"/>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3E8178-5C32-6D02-01C5-273F7E87B2A5}"/>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Clean Data</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4997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AF27E-F045-259C-8D56-AD2BC07B0ECE}"/>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KPI Definitions and Key Insights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487D62F-EB46-4554-988E-34C15DA5338C}"/>
              </a:ext>
            </a:extLst>
          </p:cNvPr>
          <p:cNvSpPr>
            <a:spLocks noGrp="1"/>
          </p:cNvSpPr>
          <p:nvPr>
            <p:ph idx="1"/>
          </p:nvPr>
        </p:nvSpPr>
        <p:spPr>
          <a:xfrm>
            <a:off x="4447308" y="591344"/>
            <a:ext cx="6906491" cy="5585619"/>
          </a:xfrm>
        </p:spPr>
        <p:txBody>
          <a:bodyPr anchor="ctr">
            <a:normAutofit/>
          </a:bodyPr>
          <a:lstStyle/>
          <a:p>
            <a:pPr marL="0" indent="0">
              <a:buNone/>
            </a:pPr>
            <a:r>
              <a:rPr lang="en-US" dirty="0"/>
              <a:t>I measured success through three primary lenses:</a:t>
            </a:r>
          </a:p>
          <a:p>
            <a:pPr lvl="1"/>
            <a:r>
              <a:rPr lang="en-US"/>
              <a:t>Overall No-Show Rate: 50.14% (The baseline for all comparisons).</a:t>
            </a:r>
          </a:p>
          <a:p>
            <a:pPr lvl="1"/>
            <a:r>
              <a:rPr lang="en-US"/>
              <a:t>Segmented No-Show Rate: Identifying variances by age, insurance, transportation, etc.</a:t>
            </a:r>
          </a:p>
          <a:p>
            <a:pPr lvl="1"/>
            <a:r>
              <a:rPr lang="en-US"/>
              <a:t>High-Risk Accuracy: Using a decomposition tree to isolate the most likely no-show candidates.</a:t>
            </a:r>
          </a:p>
        </p:txBody>
      </p:sp>
    </p:spTree>
    <p:extLst>
      <p:ext uri="{BB962C8B-B14F-4D97-AF65-F5344CB8AC3E}">
        <p14:creationId xmlns:p14="http://schemas.microsoft.com/office/powerpoint/2010/main" val="326141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DDDDF2-BAC9-CBCE-4529-70712B75398B}"/>
              </a:ext>
            </a:extLst>
          </p:cNvPr>
          <p:cNvSpPr>
            <a:spLocks noGrp="1"/>
          </p:cNvSpPr>
          <p:nvPr>
            <p:ph type="title"/>
          </p:nvPr>
        </p:nvSpPr>
        <p:spPr>
          <a:xfrm>
            <a:off x="621792" y="1161288"/>
            <a:ext cx="3602736" cy="4526280"/>
          </a:xfrm>
        </p:spPr>
        <p:txBody>
          <a:bodyPr>
            <a:normAutofit/>
          </a:bodyPr>
          <a:lstStyle/>
          <a:p>
            <a:r>
              <a:rPr lang="en-US" sz="4000"/>
              <a:t>Analysis &amp; Insights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6F2A403-4904-4BDC-6147-75375FEB73ED}"/>
              </a:ext>
            </a:extLst>
          </p:cNvPr>
          <p:cNvGraphicFramePr>
            <a:graphicFrameLocks noGrp="1"/>
          </p:cNvGraphicFramePr>
          <p:nvPr>
            <p:ph idx="1"/>
            <p:extLst>
              <p:ext uri="{D42A27DB-BD31-4B8C-83A1-F6EECF244321}">
                <p14:modId xmlns:p14="http://schemas.microsoft.com/office/powerpoint/2010/main" val="2738999579"/>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271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F6D2-2004-4A64-FE86-A1D2457DA02D}"/>
              </a:ext>
            </a:extLst>
          </p:cNvPr>
          <p:cNvSpPr>
            <a:spLocks noGrp="1"/>
          </p:cNvSpPr>
          <p:nvPr>
            <p:ph type="title"/>
          </p:nvPr>
        </p:nvSpPr>
        <p:spPr/>
        <p:txBody>
          <a:bodyPr/>
          <a:lstStyle/>
          <a:p>
            <a:r>
              <a:rPr lang="en-US" dirty="0"/>
              <a:t>Dashboard</a:t>
            </a:r>
          </a:p>
        </p:txBody>
      </p:sp>
      <p:pic>
        <p:nvPicPr>
          <p:cNvPr id="5" name="Content Placeholder 4">
            <a:extLst>
              <a:ext uri="{FF2B5EF4-FFF2-40B4-BE49-F238E27FC236}">
                <a16:creationId xmlns:a16="http://schemas.microsoft.com/office/drawing/2014/main" id="{013BCAFA-B6A2-7583-AC21-3BBE8B22CC6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24566" y="1687512"/>
            <a:ext cx="8542868" cy="4805363"/>
          </a:xfrm>
          <a:prstGeom prst="rect">
            <a:avLst/>
          </a:prstGeom>
        </p:spPr>
      </p:pic>
    </p:spTree>
    <p:extLst>
      <p:ext uri="{BB962C8B-B14F-4D97-AF65-F5344CB8AC3E}">
        <p14:creationId xmlns:p14="http://schemas.microsoft.com/office/powerpoint/2010/main" val="31704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526847-D580-1DF4-CE1B-50309455DA2A}"/>
              </a:ext>
            </a:extLst>
          </p:cNvPr>
          <p:cNvSpPr>
            <a:spLocks noGrp="1"/>
          </p:cNvSpPr>
          <p:nvPr>
            <p:ph type="title"/>
          </p:nvPr>
        </p:nvSpPr>
        <p:spPr>
          <a:xfrm>
            <a:off x="635000" y="640823"/>
            <a:ext cx="3418659" cy="5583148"/>
          </a:xfrm>
        </p:spPr>
        <p:txBody>
          <a:bodyPr anchor="ctr">
            <a:normAutofit/>
          </a:bodyPr>
          <a:lstStyle/>
          <a:p>
            <a:r>
              <a:rPr lang="en-US" sz="3000"/>
              <a:t>Recommendations &amp; Next Steps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B433397-7CAD-3B43-0597-F0ECA374A3D2}"/>
              </a:ext>
            </a:extLst>
          </p:cNvPr>
          <p:cNvGraphicFramePr>
            <a:graphicFrameLocks noGrp="1"/>
          </p:cNvGraphicFramePr>
          <p:nvPr>
            <p:ph idx="1"/>
            <p:extLst>
              <p:ext uri="{D42A27DB-BD31-4B8C-83A1-F6EECF244321}">
                <p14:modId xmlns:p14="http://schemas.microsoft.com/office/powerpoint/2010/main" val="303719899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8633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3ED8B6-CEF8-55BE-E3D9-5DAC46328134}"/>
              </a:ext>
            </a:extLst>
          </p:cNvPr>
          <p:cNvSpPr>
            <a:spLocks noGrp="1"/>
          </p:cNvSpPr>
          <p:nvPr>
            <p:ph type="title"/>
          </p:nvPr>
        </p:nvSpPr>
        <p:spPr>
          <a:xfrm>
            <a:off x="635000" y="640823"/>
            <a:ext cx="3418659" cy="5583148"/>
          </a:xfrm>
        </p:spPr>
        <p:txBody>
          <a:bodyPr anchor="ctr">
            <a:normAutofit/>
          </a:bodyPr>
          <a:lstStyle/>
          <a:p>
            <a:r>
              <a:rPr lang="en-US" sz="5400"/>
              <a:t>Conclusion and Q&amp;A</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EBD15DE-3F22-07FE-8647-6EF3CF630DD9}"/>
              </a:ext>
            </a:extLst>
          </p:cNvPr>
          <p:cNvGraphicFramePr>
            <a:graphicFrameLocks noGrp="1"/>
          </p:cNvGraphicFramePr>
          <p:nvPr>
            <p:ph idx="1"/>
            <p:extLst>
              <p:ext uri="{D42A27DB-BD31-4B8C-83A1-F6EECF244321}">
                <p14:modId xmlns:p14="http://schemas.microsoft.com/office/powerpoint/2010/main" val="146663378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2887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TotalTime>
  <Words>1567</Words>
  <Application>Microsoft Office PowerPoint</Application>
  <PresentationFormat>Widescreen</PresentationFormat>
  <Paragraphs>109</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Decoding No-Show Patterns</vt:lpstr>
      <vt:lpstr>Overview</vt:lpstr>
      <vt:lpstr>Stakeholder Persona</vt:lpstr>
      <vt:lpstr>The Business Problem</vt:lpstr>
      <vt:lpstr>Data Source</vt:lpstr>
      <vt:lpstr>Ethics, privacy, and limitations</vt:lpstr>
      <vt:lpstr>Data cleaning and transformation</vt:lpstr>
      <vt:lpstr>Dirty Data</vt:lpstr>
      <vt:lpstr>Clean Data</vt:lpstr>
      <vt:lpstr>KPI Definitions and Key Insights</vt:lpstr>
      <vt:lpstr>Analysis &amp; Insights</vt:lpstr>
      <vt:lpstr>Dashboard</vt:lpstr>
      <vt:lpstr>Recommendations &amp; Next Steps</vt:lpstr>
      <vt:lpstr>Conclusion and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hughenk1</dc:creator>
  <cp:lastModifiedBy>hughenk1</cp:lastModifiedBy>
  <cp:revision>11</cp:revision>
  <dcterms:created xsi:type="dcterms:W3CDTF">2026-04-10T20:56:57Z</dcterms:created>
  <dcterms:modified xsi:type="dcterms:W3CDTF">2026-04-22T14:47:05Z</dcterms:modified>
</cp:coreProperties>
</file>